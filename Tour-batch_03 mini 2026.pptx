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56" r:id="rId3"/>
    <p:sldId id="257" r:id="rId4"/>
    <p:sldId id="365" r:id="rId5"/>
    <p:sldId id="377" r:id="rId6"/>
    <p:sldId id="378" r:id="rId7"/>
    <p:sldId id="367" r:id="rId8"/>
    <p:sldId id="368" r:id="rId9"/>
    <p:sldId id="370" r:id="rId10"/>
    <p:sldId id="384" r:id="rId11"/>
    <p:sldId id="374" r:id="rId12"/>
    <p:sldId id="366" r:id="rId13"/>
    <p:sldId id="278" r:id="rId14"/>
    <p:sldId id="382" r:id="rId15"/>
    <p:sldId id="381" r:id="rId16"/>
    <p:sldId id="326" r:id="rId17"/>
  </p:sldIdLst>
  <p:sldSz cx="12192000" cy="6858000"/>
  <p:notesSz cx="6858000" cy="9144000"/>
  <p:embeddedFontLst>
    <p:embeddedFont>
      <p:font typeface="Arial Black" panose="020B0A04020102020204" pitchFamily="34" charset="0"/>
      <p:bold r:id="rId20"/>
    </p:embeddedFont>
    <p:embeddedFont>
      <p:font typeface="Arial Rounded MT Bold" panose="020F0704030504030204" pitchFamily="34" charset="0"/>
      <p:regular r:id="rId21"/>
    </p:embeddedFont>
    <p:embeddedFont>
      <p:font typeface="Bookman Old Style" panose="02050604050505020204" pitchFamily="18" charset="0"/>
      <p:regular r:id="rId22"/>
      <p:bold r:id="rId23"/>
      <p:italic r:id="rId24"/>
      <p:boldItalic r:id="rId25"/>
    </p:embeddedFont>
    <p:embeddedFont>
      <p:font typeface="Century Gothic" panose="020B0502020202020204" pitchFamily="34" charset="0"/>
      <p:regular r:id="rId26"/>
      <p:bold r:id="rId27"/>
      <p:italic r:id="rId28"/>
      <p:boldItalic r:id="rId29"/>
    </p:embeddedFont>
    <p:embeddedFont>
      <p:font typeface="Quattrocento Sans" panose="020B0502050000020003"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98" userDrawn="1">
          <p15:clr>
            <a:srgbClr val="000000"/>
          </p15:clr>
        </p15:guide>
        <p15:guide id="2" pos="3840" userDrawn="1">
          <p15:clr>
            <a:srgbClr val="000000"/>
          </p15:clr>
        </p15:guide>
      </p15:sldGuideLst>
    </p:ext>
    <p:ext uri="{2D200454-40CA-4A62-9FC3-DE9A4176ACB9}">
      <p15:notesGuideLst xmlns:p15="http://schemas.microsoft.com/office/powerpoint/2012/main">
        <p15:guide id="1" orient="horz" pos="293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432" y="60"/>
      </p:cViewPr>
      <p:guideLst>
        <p:guide orient="horz" pos="2198"/>
        <p:guide pos="3840"/>
      </p:guideLst>
    </p:cSldViewPr>
  </p:slideViewPr>
  <p:notesTextViewPr>
    <p:cViewPr>
      <p:scale>
        <a:sx n="1" d="1"/>
        <a:sy n="1" d="1"/>
      </p:scale>
      <p:origin x="0" y="0"/>
    </p:cViewPr>
  </p:notesTextViewPr>
  <p:notesViewPr>
    <p:cSldViewPr snapToGrid="0">
      <p:cViewPr varScale="1">
        <p:scale>
          <a:sx n="55" d="100"/>
          <a:sy n="55" d="100"/>
        </p:scale>
        <p:origin x="-2892" y="-102"/>
      </p:cViewPr>
      <p:guideLst>
        <p:guide orient="horz" pos="293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370304-5C45-4A29-AF69-DA8E27EB3D7D}" type="datetimeFigureOut">
              <a:rPr lang="en-US" smtClean="0"/>
              <a:t>04/05/2026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14DAF77-E01D-4DCA-9435-93588B86E19B}"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a:t>
            </a:fld>
            <a:endPar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1"/>
        <p:cNvGrpSpPr/>
        <p:nvPr/>
      </p:nvGrpSpPr>
      <p:grpSpPr>
        <a:xfrm>
          <a:off x="0" y="0"/>
          <a:ext cx="0" cy="0"/>
          <a:chOff x="0" y="0"/>
          <a:chExt cx="0" cy="0"/>
        </a:xfrm>
      </p:grpSpPr>
      <p:sp>
        <p:nvSpPr>
          <p:cNvPr id="32" name="Google Shape;32;p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 name="Google Shape;33;p80"/>
          <p:cNvSpPr>
            <a:spLocks noGrp="1"/>
          </p:cNvSpPr>
          <p:nvPr>
            <p:ph type="pic" idx="2"/>
          </p:nvPr>
        </p:nvSpPr>
        <p:spPr>
          <a:xfrm>
            <a:off x="5183188" y="987425"/>
            <a:ext cx="6172200" cy="4873625"/>
          </a:xfrm>
          <a:prstGeom prst="rect">
            <a:avLst/>
          </a:prstGeom>
          <a:noFill/>
          <a:ln>
            <a:noFill/>
          </a:ln>
        </p:spPr>
      </p:sp>
      <p:sp>
        <p:nvSpPr>
          <p:cNvPr id="34" name="Google Shape;34;p8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5" name="Google Shape;3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0" name="Google Shape;40;p8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1" name="Google Shape;41;p8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2" name="Google Shape;42;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7" name="Google Shape;47;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8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8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8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8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8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1" name="Google Shape;61;p8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8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8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8" name="Google Shape;68;p8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69" name="Google Shape;69;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8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8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8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8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1" name="Google Shape;81;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4"/>
        <p:cNvGrpSpPr/>
        <p:nvPr/>
      </p:nvGrpSpPr>
      <p:grpSpPr>
        <a:xfrm>
          <a:off x="0" y="0"/>
          <a:ext cx="0" cy="0"/>
          <a:chOff x="0" y="0"/>
          <a:chExt cx="0" cy="0"/>
        </a:xfrm>
      </p:grpSpPr>
      <p:sp>
        <p:nvSpPr>
          <p:cNvPr id="95" name="Google Shape;95;p75"/>
          <p:cNvSpPr txBox="1">
            <a:spLocks noGrp="1"/>
          </p:cNvSpPr>
          <p:nvPr>
            <p:ph type="title"/>
          </p:nvPr>
        </p:nvSpPr>
        <p:spPr>
          <a:xfrm>
            <a:off x="1211501" y="337515"/>
            <a:ext cx="7315200" cy="36576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2800" b="1">
                <a:solidFill>
                  <a:srgbClr val="263031"/>
                </a:solidFill>
                <a:latin typeface="Calibri" panose="020F0502020204030204"/>
                <a:ea typeface="Calibri" panose="020F0502020204030204"/>
                <a:cs typeface="Calibri" panose="020F0502020204030204"/>
                <a:sym typeface="Calibri" panose="020F0502020204030204"/>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cxnSp>
        <p:nvCxnSpPr>
          <p:cNvPr id="85" name="Google Shape;85;p74"/>
          <p:cNvCxnSpPr/>
          <p:nvPr/>
        </p:nvCxnSpPr>
        <p:spPr>
          <a:xfrm>
            <a:off x="0" y="6373812"/>
            <a:ext cx="12204700" cy="0"/>
          </a:xfrm>
          <a:prstGeom prst="straightConnector1">
            <a:avLst/>
          </a:prstGeom>
          <a:noFill/>
          <a:ln w="25400" cap="flat" cmpd="sng">
            <a:solidFill>
              <a:srgbClr val="FF4500"/>
            </a:solidFill>
            <a:prstDash val="solid"/>
            <a:miter lim="800000"/>
            <a:headEnd type="none" w="med" len="med"/>
            <a:tailEnd type="none" w="med" len="med"/>
          </a:ln>
        </p:spPr>
      </p:cxnSp>
      <p:sp>
        <p:nvSpPr>
          <p:cNvPr id="86" name="Google Shape;86;p74"/>
          <p:cNvSpPr txBox="1"/>
          <p:nvPr/>
        </p:nvSpPr>
        <p:spPr>
          <a:xfrm>
            <a:off x="633412" y="6408737"/>
            <a:ext cx="10936287" cy="457200"/>
          </a:xfrm>
          <a:prstGeom prst="rect">
            <a:avLst/>
          </a:prstGeom>
          <a:solidFill>
            <a:srgbClr val="FF4500"/>
          </a:solidFill>
          <a:ln>
            <a:noFill/>
          </a:ln>
        </p:spPr>
        <p:txBody>
          <a:bodyPr spcFirstLastPara="1" wrap="square" lIns="91425" tIns="45700" rIns="91425" bIns="45700" anchor="ctr" anchorCtr="0">
            <a:noAutofit/>
          </a:bodyPr>
          <a:lstStyle/>
          <a:p>
            <a:pPr marL="0" marR="0" lvl="0" indent="0" algn="ctr" rtl="0">
              <a:lnSpc>
                <a:spcPct val="70000"/>
              </a:lnSpc>
              <a:spcBef>
                <a:spcPts val="0"/>
              </a:spcBef>
              <a:spcAft>
                <a:spcPts val="0"/>
              </a:spcAft>
              <a:buClr>
                <a:schemeClr val="lt1"/>
              </a:buClr>
              <a:buSzPts val="2200"/>
              <a:buFont typeface="Calibri" panose="020F0502020204030204"/>
              <a:buNone/>
            </a:pP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Vel Tech High Tech Dr </a:t>
            </a:r>
            <a:r>
              <a:rPr lang="en-US" sz="2200" b="1" i="0" u="none" dirty="0" err="1">
                <a:solidFill>
                  <a:schemeClr val="lt1"/>
                </a:solidFill>
                <a:latin typeface="Calibri" panose="020F0502020204030204"/>
                <a:ea typeface="Calibri" panose="020F0502020204030204"/>
                <a:cs typeface="Calibri" panose="020F0502020204030204"/>
                <a:sym typeface="Calibri" panose="020F0502020204030204"/>
              </a:rPr>
              <a:t>Rangarajan</a:t>
            </a: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 Dr </a:t>
            </a:r>
            <a:r>
              <a:rPr lang="en-US" sz="2200" b="1" i="0" u="none" dirty="0" err="1">
                <a:solidFill>
                  <a:schemeClr val="lt1"/>
                </a:solidFill>
                <a:latin typeface="Calibri" panose="020F0502020204030204"/>
                <a:ea typeface="Calibri" panose="020F0502020204030204"/>
                <a:cs typeface="Calibri" panose="020F0502020204030204"/>
                <a:sym typeface="Calibri" panose="020F0502020204030204"/>
              </a:rPr>
              <a:t>Sakunthala</a:t>
            </a: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 Engineering College </a:t>
            </a:r>
            <a:r>
              <a:rPr lang="en-US" sz="1800" b="1" i="0" u="none" dirty="0">
                <a:solidFill>
                  <a:srgbClr val="FFFF00"/>
                </a:solidFill>
                <a:latin typeface="Calibri" panose="020F0502020204030204"/>
                <a:ea typeface="Calibri" panose="020F0502020204030204"/>
                <a:cs typeface="Calibri" panose="020F0502020204030204"/>
                <a:sym typeface="Calibri" panose="020F0502020204030204"/>
              </a:rPr>
              <a:t>An  Autonomous Institution</a:t>
            </a:r>
            <a:endParaRPr dirty="0"/>
          </a:p>
        </p:txBody>
      </p:sp>
      <p:sp>
        <p:nvSpPr>
          <p:cNvPr id="87" name="Google Shape;87;p74"/>
          <p:cNvSpPr txBox="1"/>
          <p:nvPr/>
        </p:nvSpPr>
        <p:spPr>
          <a:xfrm>
            <a:off x="11569700" y="6408737"/>
            <a:ext cx="633412" cy="457200"/>
          </a:xfrm>
          <a:prstGeom prst="rect">
            <a:avLst/>
          </a:prstGeom>
          <a:solidFill>
            <a:srgbClr val="0000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Quattrocento Sans" panose="020B0502050000020003"/>
              <a:buNone/>
            </a:pPr>
            <a:fld id="{00000000-1234-1234-1234-123412341234}" type="slidenum">
              <a:rPr lang="en-US" sz="1600" b="1" i="0" u="none">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a:t>
            </a:fld>
            <a:endParaRPr lang="en-US" sz="1600" b="1" i="0" u="none">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sp>
        <p:nvSpPr>
          <p:cNvPr id="88" name="Google Shape;88;p74"/>
          <p:cNvSpPr/>
          <p:nvPr/>
        </p:nvSpPr>
        <p:spPr>
          <a:xfrm>
            <a:off x="0" y="153987"/>
            <a:ext cx="1116012" cy="731837"/>
          </a:xfrm>
          <a:custGeom>
            <a:avLst/>
            <a:gdLst/>
            <a:ahLst/>
            <a:cxnLst/>
            <a:rect l="l" t="t" r="r" b="b"/>
            <a:pathLst>
              <a:path w="1821243" h="902541" extrusionOk="0">
                <a:moveTo>
                  <a:pt x="0" y="0"/>
                </a:moveTo>
                <a:lnTo>
                  <a:pt x="1369972" y="0"/>
                </a:lnTo>
                <a:cubicBezTo>
                  <a:pt x="1619203" y="0"/>
                  <a:pt x="1821243" y="202040"/>
                  <a:pt x="1821243" y="451271"/>
                </a:cubicBezTo>
                <a:lnTo>
                  <a:pt x="1821243" y="451271"/>
                </a:lnTo>
                <a:cubicBezTo>
                  <a:pt x="1821243" y="700501"/>
                  <a:pt x="1619202" y="902541"/>
                  <a:pt x="1369972" y="902541"/>
                </a:cubicBezTo>
                <a:lnTo>
                  <a:pt x="0" y="902541"/>
                </a:lnTo>
                <a:close/>
              </a:path>
            </a:pathLst>
          </a:custGeom>
          <a:solidFill>
            <a:srgbClr val="FF4500"/>
          </a:solidFill>
          <a:ln>
            <a:noFill/>
          </a:ln>
          <a:effectLst>
            <a:outerShdw blurRad="63500" dist="63499" dir="2700000">
              <a:srgbClr val="000000">
                <a:alpha val="3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9" name="Google Shape;89;p74"/>
          <p:cNvSpPr txBox="1"/>
          <p:nvPr/>
        </p:nvSpPr>
        <p:spPr>
          <a:xfrm>
            <a:off x="0" y="153987"/>
            <a:ext cx="287337" cy="731837"/>
          </a:xfrm>
          <a:prstGeom prst="rect">
            <a:avLst/>
          </a:prstGeom>
          <a:solidFill>
            <a:srgbClr val="0000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0" name="Google Shape;90;p74"/>
          <p:cNvPicPr preferRelativeResize="0"/>
          <p:nvPr/>
        </p:nvPicPr>
        <p:blipFill rotWithShape="1">
          <a:blip r:embed="rId3"/>
          <a:srcRect/>
          <a:stretch>
            <a:fillRect/>
          </a:stretch>
        </p:blipFill>
        <p:spPr>
          <a:xfrm>
            <a:off x="381000" y="200025"/>
            <a:ext cx="641350" cy="639762"/>
          </a:xfrm>
          <a:prstGeom prst="rect">
            <a:avLst/>
          </a:prstGeom>
          <a:noFill/>
          <a:ln>
            <a:noFill/>
          </a:ln>
        </p:spPr>
      </p:pic>
      <p:sp>
        <p:nvSpPr>
          <p:cNvPr id="91" name="Google Shape;91;p74"/>
          <p:cNvSpPr txBox="1"/>
          <p:nvPr/>
        </p:nvSpPr>
        <p:spPr>
          <a:xfrm>
            <a:off x="0" y="6400800"/>
            <a:ext cx="633412" cy="471487"/>
          </a:xfrm>
          <a:prstGeom prst="rect">
            <a:avLst/>
          </a:prstGeom>
          <a:solidFill>
            <a:srgbClr val="000080"/>
          </a:solidFill>
          <a:ln>
            <a:noFill/>
          </a:ln>
        </p:spPr>
        <p:txBody>
          <a:bodyPr spcFirstLastPara="1" wrap="square" lIns="91425" tIns="45700" rIns="91425" bIns="45700" anchor="t" anchorCtr="0">
            <a:spAutoFit/>
          </a:bodyPr>
          <a:lstStyle/>
          <a:p>
            <a:pPr marL="0" marR="0" lvl="0" indent="0" algn="ctr" rtl="0">
              <a:lnSpc>
                <a:spcPct val="70000"/>
              </a:lnSpc>
              <a:spcBef>
                <a:spcPts val="0"/>
              </a:spcBef>
              <a:spcAft>
                <a:spcPts val="0"/>
              </a:spcAft>
              <a:buClr>
                <a:schemeClr val="dk1"/>
              </a:buClr>
              <a:buSzPts val="1600"/>
              <a:buFont typeface="Calibri" panose="020F0502020204030204"/>
              <a:buNone/>
            </a:pPr>
            <a:endParaRPr sz="1600" b="1" i="0" u="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None/>
            </a:pPr>
            <a:endParaRPr sz="1600" b="1" i="0" u="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2" name="Google Shape;92;p7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dirty="0"/>
          </a:p>
        </p:txBody>
      </p:sp>
      <p:sp>
        <p:nvSpPr>
          <p:cNvPr id="93" name="Google Shape;93;p7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dirty="0"/>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
          <p:cNvPicPr preferRelativeResize="0"/>
          <p:nvPr/>
        </p:nvPicPr>
        <p:blipFill rotWithShape="1">
          <a:blip r:embed="rId4"/>
          <a:srcRect l="30107" r="5080"/>
          <a:stretch>
            <a:fillRect/>
          </a:stretch>
        </p:blipFill>
        <p:spPr>
          <a:xfrm>
            <a:off x="36512" y="-4763"/>
            <a:ext cx="12192000" cy="6858000"/>
          </a:xfrm>
          <a:prstGeom prst="rect">
            <a:avLst/>
          </a:prstGeom>
          <a:noFill/>
          <a:ln w="9525" cap="flat" cmpd="sng">
            <a:solidFill>
              <a:srgbClr val="92AAEA"/>
            </a:solidFill>
            <a:prstDash val="solid"/>
            <a:miter lim="800000"/>
            <a:headEnd type="none" w="sm" len="sm"/>
            <a:tailEnd type="none" w="sm" len="sm"/>
          </a:ln>
        </p:spPr>
      </p:pic>
      <p:pic>
        <p:nvPicPr>
          <p:cNvPr id="117" name="Google Shape;117;p1" descr="C:\Users\EXAM CELL\Downloads\High-Tech (3).png"/>
          <p:cNvPicPr preferRelativeResize="0"/>
          <p:nvPr/>
        </p:nvPicPr>
        <p:blipFill rotWithShape="1">
          <a:blip r:embed="rId5"/>
          <a:srcRect t="27778" b="30554"/>
          <a:stretch>
            <a:fillRect/>
          </a:stretch>
        </p:blipFill>
        <p:spPr>
          <a:xfrm>
            <a:off x="2751137" y="127000"/>
            <a:ext cx="7029450" cy="1139825"/>
          </a:xfrm>
          <a:prstGeom prst="rect">
            <a:avLst/>
          </a:prstGeom>
          <a:noFill/>
          <a:ln>
            <a:noFill/>
          </a:ln>
        </p:spPr>
      </p:pic>
      <p:sp>
        <p:nvSpPr>
          <p:cNvPr id="118" name="Google Shape;118;p1"/>
          <p:cNvSpPr txBox="1"/>
          <p:nvPr/>
        </p:nvSpPr>
        <p:spPr>
          <a:xfrm>
            <a:off x="36512" y="6332537"/>
            <a:ext cx="2214562" cy="3975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00"/>
              </a:buClr>
              <a:buSzPts val="2000"/>
              <a:buFont typeface="Century Gothic" panose="020B0502020202020204"/>
              <a:buNone/>
            </a:pPr>
            <a:r>
              <a:rPr lang="en-US" sz="2000" b="1" i="0" u="none" strike="noStrike" cap="none" dirty="0">
                <a:solidFill>
                  <a:srgbClr val="FFFF00"/>
                </a:solidFill>
                <a:latin typeface="Century Gothic" panose="020B0502020202020204"/>
                <a:ea typeface="Century Gothic" panose="020B0502020202020204"/>
                <a:cs typeface="Century Gothic" panose="020B0502020202020204"/>
                <a:sym typeface="Century Gothic" panose="020B0502020202020204"/>
              </a:rPr>
              <a:t>Date</a:t>
            </a:r>
            <a:r>
              <a:rPr lang="en-US" sz="2000" b="1" i="0" u="none" strike="noStrike" cap="none">
                <a:solidFill>
                  <a:srgbClr val="FFFF00"/>
                </a:solidFill>
                <a:latin typeface="Century Gothic" panose="020B0502020202020204"/>
                <a:ea typeface="Century Gothic" panose="020B0502020202020204"/>
                <a:cs typeface="Century Gothic" panose="020B0502020202020204"/>
                <a:sym typeface="Century Gothic" panose="020B0502020202020204"/>
              </a:rPr>
              <a:t>: 3</a:t>
            </a:r>
            <a:r>
              <a:rPr lang="en-US" sz="2000" b="1" dirty="0">
                <a:solidFill>
                  <a:srgbClr val="FFFF00"/>
                </a:solidFill>
                <a:latin typeface="Century Gothic" panose="020B0502020202020204"/>
                <a:ea typeface="Century Gothic" panose="020B0502020202020204"/>
                <a:cs typeface="Century Gothic" panose="020B0502020202020204"/>
                <a:sym typeface="Century Gothic" panose="020B0502020202020204"/>
              </a:rPr>
              <a:t>1</a:t>
            </a:r>
            <a:r>
              <a:rPr lang="en-US" sz="2000" b="1" i="0" u="none" strike="noStrike" cap="none">
                <a:solidFill>
                  <a:srgbClr val="FFFF00"/>
                </a:solidFill>
                <a:latin typeface="Century Gothic" panose="020B0502020202020204"/>
                <a:ea typeface="Century Gothic" panose="020B0502020202020204"/>
                <a:cs typeface="Century Gothic" panose="020B0502020202020204"/>
                <a:sym typeface="Century Gothic" panose="020B0502020202020204"/>
              </a:rPr>
              <a:t>.01.2026</a:t>
            </a:r>
            <a:endParaRPr dirty="0"/>
          </a:p>
        </p:txBody>
      </p:sp>
      <p:pic>
        <p:nvPicPr>
          <p:cNvPr id="119" name="Google Shape;119;p1" descr="C:\Users\EXAM CELL\Downloads\Veltech_-Round-Logo-Final (3).png"/>
          <p:cNvPicPr preferRelativeResize="0"/>
          <p:nvPr/>
        </p:nvPicPr>
        <p:blipFill rotWithShape="1">
          <a:blip r:embed="rId6"/>
          <a:srcRect/>
          <a:stretch>
            <a:fillRect/>
          </a:stretch>
        </p:blipFill>
        <p:spPr>
          <a:xfrm>
            <a:off x="11050587" y="109537"/>
            <a:ext cx="1033462" cy="1033462"/>
          </a:xfrm>
          <a:prstGeom prst="rect">
            <a:avLst/>
          </a:prstGeom>
          <a:noFill/>
          <a:ln>
            <a:noFill/>
          </a:ln>
        </p:spPr>
      </p:pic>
      <p:sp>
        <p:nvSpPr>
          <p:cNvPr id="121" name="Google Shape;121;p1"/>
          <p:cNvSpPr txBox="1"/>
          <p:nvPr/>
        </p:nvSpPr>
        <p:spPr>
          <a:xfrm>
            <a:off x="8489950" y="4645025"/>
            <a:ext cx="1600835" cy="76200"/>
          </a:xfrm>
          <a:prstGeom prst="rect">
            <a:avLst/>
          </a:prstGeom>
          <a:solidFill>
            <a:srgbClr val="FF45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1"/>
          <p:cNvSpPr txBox="1"/>
          <p:nvPr/>
        </p:nvSpPr>
        <p:spPr>
          <a:xfrm>
            <a:off x="2438400" y="1143000"/>
            <a:ext cx="7653337" cy="2968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0C0"/>
              </a:buClr>
              <a:buSzPts val="2000"/>
              <a:buFont typeface="Calibri" panose="020F0502020204030204"/>
              <a:buNone/>
            </a:pPr>
            <a:r>
              <a:rPr lang="en-US" sz="2000" b="1" i="0" u="none">
                <a:solidFill>
                  <a:srgbClr val="0070C0"/>
                </a:solidFill>
                <a:latin typeface="Calibri" panose="020F0502020204030204"/>
                <a:ea typeface="Calibri" panose="020F0502020204030204"/>
                <a:cs typeface="Calibri" panose="020F0502020204030204"/>
                <a:sym typeface="Calibri" panose="020F0502020204030204"/>
              </a:rPr>
              <a:t>An Autonomous Institution</a:t>
            </a:r>
          </a:p>
        </p:txBody>
      </p:sp>
      <p:sp>
        <p:nvSpPr>
          <p:cNvPr id="124" name="Google Shape;124;p1"/>
          <p:cNvSpPr txBox="1"/>
          <p:nvPr/>
        </p:nvSpPr>
        <p:spPr>
          <a:xfrm>
            <a:off x="609600" y="4419600"/>
            <a:ext cx="398462" cy="147637"/>
          </a:xfrm>
          <a:prstGeom prst="rect">
            <a:avLst/>
          </a:prstGeom>
          <a:noFill/>
          <a:ln>
            <a:noFill/>
          </a:ln>
        </p:spPr>
        <p:txBody>
          <a:bodyPr spcFirstLastPara="1" wrap="square" lIns="0" tIns="12050" rIns="0" bIns="0" anchor="t" anchorCtr="0">
            <a:spAutoFit/>
          </a:bodyPr>
          <a:lstStyle/>
          <a:p>
            <a:pPr marL="115570" marR="0" lvl="0" indent="-102870" algn="ctr" rtl="0">
              <a:lnSpc>
                <a:spcPct val="100000"/>
              </a:lnSpc>
              <a:spcBef>
                <a:spcPts val="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Biotech,</a:t>
            </a:r>
          </a:p>
          <a:p>
            <a:pPr marL="115570" marR="0" lvl="0" indent="-102870" algn="ctr" rtl="0">
              <a:lnSpc>
                <a:spcPct val="100000"/>
              </a:lnSpc>
              <a:spcBef>
                <a:spcPts val="10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 Chemical,ECE &amp;IT</a:t>
            </a:r>
          </a:p>
        </p:txBody>
      </p:sp>
      <p:sp>
        <p:nvSpPr>
          <p:cNvPr id="125" name="Google Shape;125;p1"/>
          <p:cNvSpPr txBox="1"/>
          <p:nvPr/>
        </p:nvSpPr>
        <p:spPr>
          <a:xfrm>
            <a:off x="2758743" y="2478751"/>
            <a:ext cx="8245375" cy="520700"/>
          </a:xfrm>
          <a:prstGeom prst="rect">
            <a:avLst/>
          </a:prstGeom>
          <a:gradFill>
            <a:gsLst>
              <a:gs pos="0">
                <a:srgbClr val="FFDC9B"/>
              </a:gs>
              <a:gs pos="50000">
                <a:srgbClr val="FFD68D"/>
              </a:gs>
              <a:gs pos="100000">
                <a:srgbClr val="FFD478"/>
              </a:gs>
            </a:gsLst>
            <a:lin ang="5400000" scaled="0"/>
          </a:gradFill>
          <a:ln w="76200" cap="flat" cmpd="sng">
            <a:solidFill>
              <a:srgbClr val="00B050"/>
            </a:solidFill>
            <a:prstDash val="solid"/>
            <a:miter lim="800000"/>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4000"/>
              <a:buFont typeface="Calibri" panose="020F0502020204030204"/>
              <a:buNone/>
            </a:pPr>
            <a:r>
              <a:rPr lang="en-US" sz="2800" b="1" dirty="0">
                <a:solidFill>
                  <a:srgbClr val="FF0000"/>
                </a:solidFill>
                <a:latin typeface="Calibri" panose="020F0502020204030204"/>
                <a:ea typeface="Calibri" panose="020F0502020204030204"/>
                <a:cs typeface="Calibri" panose="020F0502020204030204"/>
                <a:sym typeface="Calibri" panose="020F0502020204030204"/>
              </a:rPr>
              <a:t>21EE05P – MINIPROJECT  REVIEW  -V</a:t>
            </a:r>
            <a:endParaRPr sz="2800" dirty="0"/>
          </a:p>
        </p:txBody>
      </p:sp>
      <p:pic>
        <p:nvPicPr>
          <p:cNvPr id="126" name="Google Shape;126;p1"/>
          <p:cNvPicPr preferRelativeResize="0"/>
          <p:nvPr/>
        </p:nvPicPr>
        <p:blipFill rotWithShape="1">
          <a:blip r:embed="rId7"/>
          <a:srcRect/>
          <a:stretch>
            <a:fillRect/>
          </a:stretch>
        </p:blipFill>
        <p:spPr>
          <a:xfrm>
            <a:off x="426720" y="2348124"/>
            <a:ext cx="1097280" cy="1097280"/>
          </a:xfrm>
          <a:prstGeom prst="ellipse">
            <a:avLst/>
          </a:prstGeom>
          <a:noFill/>
          <a:ln w="63500" cap="rnd" cmpd="sng">
            <a:solidFill>
              <a:srgbClr val="C00000"/>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127" name="Google Shape;127;p1"/>
          <p:cNvPicPr preferRelativeResize="0"/>
          <p:nvPr/>
        </p:nvPicPr>
        <p:blipFill rotWithShape="1">
          <a:blip r:embed="rId8"/>
          <a:srcRect/>
          <a:stretch>
            <a:fillRect/>
          </a:stretch>
        </p:blipFill>
        <p:spPr>
          <a:xfrm>
            <a:off x="454856" y="3812342"/>
            <a:ext cx="1097280" cy="1097280"/>
          </a:xfrm>
          <a:prstGeom prst="ellipse">
            <a:avLst/>
          </a:prstGeom>
          <a:noFill/>
          <a:ln w="63500" cap="rnd" cmpd="sng">
            <a:solidFill>
              <a:srgbClr val="0070C0"/>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128" name="Google Shape;128;p1"/>
          <p:cNvPicPr preferRelativeResize="0"/>
          <p:nvPr/>
        </p:nvPicPr>
        <p:blipFill rotWithShape="1">
          <a:blip r:embed="rId9"/>
          <a:srcRect/>
          <a:stretch>
            <a:fillRect/>
          </a:stretch>
        </p:blipFill>
        <p:spPr>
          <a:xfrm>
            <a:off x="154264" y="5217112"/>
            <a:ext cx="1764000" cy="496712"/>
          </a:xfrm>
          <a:prstGeom prst="roundRect">
            <a:avLst>
              <a:gd name="adj" fmla="val 4167"/>
            </a:avLst>
          </a:prstGeom>
          <a:solidFill>
            <a:srgbClr val="FFFFFF"/>
          </a:solidFill>
          <a:ln w="76200" cap="sq" cmpd="sng">
            <a:solidFill>
              <a:srgbClr val="002060"/>
            </a:solidFill>
            <a:prstDash val="solid"/>
            <a:miter lim="800000"/>
            <a:headEnd type="none" w="sm" len="sm"/>
            <a:tailEnd type="none" w="sm" len="sm"/>
          </a:ln>
          <a:effectLst>
            <a:reflection stA="28000" endPos="28000" dist="5000" dir="5400000" sy="-100000" algn="bl" rotWithShape="0"/>
          </a:effectLst>
        </p:spPr>
      </p:pic>
      <p:pic>
        <p:nvPicPr>
          <p:cNvPr id="129" name="Google Shape;129;p1"/>
          <p:cNvPicPr preferRelativeResize="0"/>
          <p:nvPr/>
        </p:nvPicPr>
        <p:blipFill rotWithShape="1">
          <a:blip r:embed="rId10"/>
          <a:srcRect/>
          <a:stretch>
            <a:fillRect/>
          </a:stretch>
        </p:blipFill>
        <p:spPr>
          <a:xfrm>
            <a:off x="42204" y="5713824"/>
            <a:ext cx="1980000" cy="426721"/>
          </a:xfrm>
          <a:prstGeom prst="rect">
            <a:avLst/>
          </a:prstGeom>
          <a:noFill/>
          <a:ln>
            <a:noFill/>
          </a:ln>
          <a:effectLst>
            <a:outerShdw blurRad="44450" dist="27940" dir="5400000" algn="ctr">
              <a:srgbClr val="000000">
                <a:alpha val="31764"/>
              </a:srgbClr>
            </a:outerShdw>
          </a:effectLst>
        </p:spPr>
      </p:pic>
      <p:sp>
        <p:nvSpPr>
          <p:cNvPr id="130" name="Google Shape;130;p1"/>
          <p:cNvSpPr/>
          <p:nvPr/>
        </p:nvSpPr>
        <p:spPr>
          <a:xfrm>
            <a:off x="3553945" y="1653984"/>
            <a:ext cx="6387353" cy="443753"/>
          </a:xfrm>
          <a:prstGeom prst="rect">
            <a:avLst/>
          </a:prstGeom>
          <a:gradFill>
            <a:gsLst>
              <a:gs pos="0">
                <a:srgbClr val="FFC647"/>
              </a:gs>
              <a:gs pos="50000">
                <a:srgbClr val="FFC600"/>
              </a:gs>
              <a:gs pos="100000">
                <a:srgbClr val="E3B400"/>
              </a:gs>
            </a:gsLst>
            <a:lin ang="5400000" scaled="0"/>
          </a:gradFill>
          <a:ln w="9525" cap="sq" cmpd="sng">
            <a:solidFill>
              <a:srgbClr val="92D050"/>
            </a:solidFill>
            <a:prstDash val="solid"/>
            <a:bevel/>
            <a:headEnd type="none" w="sm" len="sm"/>
            <a:tailEnd type="none" w="sm" len="sm"/>
          </a:ln>
          <a:effectLst>
            <a:outerShdw blurRad="50800" dist="38100" dir="2700000" algn="tl" rotWithShape="0">
              <a:srgbClr val="00B050">
                <a:alpha val="40000"/>
              </a:srgbClr>
            </a:outerShdw>
          </a:effectLst>
        </p:spPr>
        <p:txBody>
          <a:bodyPr spcFirstLastPara="1" wrap="square" lIns="91425" tIns="45700" rIns="91425" bIns="45700" anchor="ctr" anchorCtr="0">
            <a:normAutofit/>
          </a:bodyPr>
          <a:lstStyle/>
          <a:p>
            <a:pPr algn="ctr" eaLnBrk="1" hangingPunct="1">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sym typeface="+mn-ea"/>
              </a:rPr>
              <a:t>Department of</a:t>
            </a:r>
            <a:r>
              <a:rPr lang="en-IN" altLang="en-US" sz="2000"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IN" altLang="en-US" sz="2000" dirty="0">
                <a:solidFill>
                  <a:schemeClr val="tx1"/>
                </a:solidFill>
                <a:latin typeface="Times New Roman" panose="02020603050405020304" pitchFamily="18" charset="0"/>
                <a:cs typeface="Times New Roman" panose="02020603050405020304" pitchFamily="18" charset="0"/>
                <a:sym typeface="+mn-ea"/>
              </a:rPr>
              <a:t>Information Technology </a:t>
            </a:r>
            <a:r>
              <a:rPr lang="en-IN" altLang="en-US" sz="2000" dirty="0">
                <a:latin typeface="Times New Roman" panose="02020603050405020304" pitchFamily="18" charset="0"/>
                <a:cs typeface="Times New Roman" panose="02020603050405020304" pitchFamily="18" charset="0"/>
                <a:sym typeface="+mn-ea"/>
              </a:rPr>
              <a:t>Engineering</a:t>
            </a:r>
            <a:endParaRPr dirty="0"/>
          </a:p>
        </p:txBody>
      </p:sp>
      <p:sp>
        <p:nvSpPr>
          <p:cNvPr id="131" name="Google Shape;131;p1"/>
          <p:cNvSpPr txBox="1"/>
          <p:nvPr/>
        </p:nvSpPr>
        <p:spPr>
          <a:xfrm>
            <a:off x="2871918" y="3261280"/>
            <a:ext cx="8374380" cy="830956"/>
          </a:xfrm>
          <a:prstGeom prst="rect">
            <a:avLst/>
          </a:prstGeom>
          <a:solidFill>
            <a:schemeClr val="bg1"/>
          </a:solidFill>
          <a:ln>
            <a:noFill/>
          </a:ln>
        </p:spPr>
        <p:txBody>
          <a:bodyPr spcFirstLastPara="1" wrap="square" lIns="91425" tIns="45700" rIns="91425" bIns="45700" anchor="t" anchorCtr="0">
            <a:spAutoFit/>
          </a:bodyPr>
          <a:lstStyle/>
          <a:p>
            <a:pPr lvl="0" algn="ctr">
              <a:buClr>
                <a:srgbClr val="C00000"/>
              </a:buClr>
              <a:buSzPts val="2400"/>
            </a:pPr>
            <a:r>
              <a:rPr lang="en-US" sz="2400" b="1" dirty="0">
                <a:solidFill>
                  <a:schemeClr val="tx1"/>
                </a:solidFill>
                <a:latin typeface="Arial Rounded MT Bold" panose="020F0704030504030204" pitchFamily="34" charset="0"/>
              </a:rPr>
              <a:t>A Personalized Tour Recommendation System With Real Time Chat</a:t>
            </a:r>
            <a:endParaRPr sz="2400" b="1" dirty="0">
              <a:solidFill>
                <a:schemeClr val="tx1"/>
              </a:solidFill>
              <a:latin typeface="+mn-lt"/>
            </a:endParaRPr>
          </a:p>
        </p:txBody>
      </p:sp>
      <p:sp>
        <p:nvSpPr>
          <p:cNvPr id="4" name="Text Box 3"/>
          <p:cNvSpPr txBox="1"/>
          <p:nvPr/>
        </p:nvSpPr>
        <p:spPr>
          <a:xfrm>
            <a:off x="8065135" y="4419600"/>
            <a:ext cx="2026285" cy="337185"/>
          </a:xfrm>
          <a:prstGeom prst="rect">
            <a:avLst/>
          </a:prstGeom>
          <a:noFill/>
        </p:spPr>
        <p:txBody>
          <a:bodyPr wrap="square" rtlCol="0">
            <a:spAutoFit/>
          </a:bodyPr>
          <a:lstStyle/>
          <a:p>
            <a:pPr algn="r"/>
            <a:r>
              <a:rPr lang="en-US" sz="1600" b="1">
                <a:solidFill>
                  <a:srgbClr val="002060"/>
                </a:solidFill>
                <a:latin typeface="Quattrocento Sans" panose="020B0502050000020003"/>
                <a:ea typeface="Quattrocento Sans" panose="020B0502050000020003"/>
                <a:cs typeface="Quattrocento Sans" panose="020B0502050000020003"/>
                <a:sym typeface="Quattrocento Sans" panose="020B0502050000020003"/>
              </a:rPr>
              <a:t>PRESENTED BY</a:t>
            </a:r>
            <a:endParaRPr lang="en-US" sz="1600"/>
          </a:p>
        </p:txBody>
      </p:sp>
      <p:sp>
        <p:nvSpPr>
          <p:cNvPr id="16" name="Rectangle 15"/>
          <p:cNvSpPr/>
          <p:nvPr/>
        </p:nvSpPr>
        <p:spPr>
          <a:xfrm>
            <a:off x="6226810" y="4769484"/>
            <a:ext cx="5857240" cy="1335636"/>
          </a:xfrm>
          <a:prstGeom prst="rect">
            <a:avLst/>
          </a:prstGeom>
        </p:spPr>
        <p:txBody>
          <a:bodyPr wrap="square">
            <a:noAutofit/>
          </a:bodyPr>
          <a:lstStyle/>
          <a:p>
            <a:pPr algn="just">
              <a:lnSpc>
                <a:spcPct val="150000"/>
              </a:lnSpc>
            </a:pPr>
            <a:r>
              <a:rPr lang="en-IN" b="1" dirty="0">
                <a:solidFill>
                  <a:srgbClr val="0D0D0D"/>
                </a:solidFill>
                <a:latin typeface="Times New Roman" panose="02020603050405020304" pitchFamily="18" charset="0"/>
                <a:cs typeface="Segoe UI" panose="020B0502040204020203" pitchFamily="34" charset="0"/>
              </a:rPr>
              <a:t>VH13039       Bharath Kumar U  -      VI Sem</a:t>
            </a:r>
            <a:endParaRPr lang="en-US" b="1" dirty="0">
              <a:solidFill>
                <a:srgbClr val="0D0D0D"/>
              </a:solidFill>
              <a:latin typeface="Times New Roman" panose="02020603050405020304" pitchFamily="18" charset="0"/>
              <a:cs typeface="Segoe UI" panose="020B0502040204020203" pitchFamily="34" charset="0"/>
            </a:endParaRPr>
          </a:p>
          <a:p>
            <a:pPr algn="just">
              <a:lnSpc>
                <a:spcPct val="150000"/>
              </a:lnSpc>
            </a:pPr>
            <a:r>
              <a:rPr lang="en-IN" b="1" dirty="0">
                <a:solidFill>
                  <a:srgbClr val="0D0D0D"/>
                </a:solidFill>
                <a:latin typeface="Times New Roman" panose="02020603050405020304" pitchFamily="18" charset="0"/>
                <a:cs typeface="Segoe UI" panose="020B0502040204020203" pitchFamily="34" charset="0"/>
              </a:rPr>
              <a:t> VH13050      Gopinath R             - </a:t>
            </a:r>
            <a:r>
              <a:rPr lang="en-US" dirty="0">
                <a:latin typeface="Times New Roman" panose="02020603050405020304" pitchFamily="18" charset="0"/>
                <a:cs typeface="Segoe UI" panose="020B0502040204020203" pitchFamily="34" charset="0"/>
              </a:rPr>
              <a:t>     </a:t>
            </a:r>
            <a:r>
              <a:rPr lang="en-US" b="1" dirty="0">
                <a:latin typeface="Times New Roman" panose="02020603050405020304" pitchFamily="18" charset="0"/>
                <a:cs typeface="Segoe UI" panose="020B0502040204020203" pitchFamily="34" charset="0"/>
              </a:rPr>
              <a:t>VI Sem</a:t>
            </a:r>
          </a:p>
          <a:p>
            <a:pPr algn="just">
              <a:lnSpc>
                <a:spcPct val="150000"/>
              </a:lnSpc>
            </a:pPr>
            <a:r>
              <a:rPr lang="en-IN" b="1" dirty="0">
                <a:latin typeface="Times New Roman" panose="02020603050405020304" pitchFamily="18" charset="0"/>
                <a:cs typeface="Segoe UI" panose="020B0502040204020203" pitchFamily="34" charset="0"/>
              </a:rPr>
              <a:t> VH13061      Jagan M                  -      VI Sem       </a:t>
            </a:r>
          </a:p>
          <a:p>
            <a:pPr algn="just">
              <a:lnSpc>
                <a:spcPct val="150000"/>
              </a:lnSpc>
            </a:pPr>
            <a:endParaRPr lang="en-IN" b="1" dirty="0">
              <a:latin typeface="Times New Roman" panose="02020603050405020304" pitchFamily="18" charset="0"/>
              <a:cs typeface="Segoe UI" panose="020B0502040204020203" pitchFamily="34" charset="0"/>
            </a:endParaRPr>
          </a:p>
        </p:txBody>
      </p:sp>
      <p:graphicFrame>
        <p:nvGraphicFramePr>
          <p:cNvPr id="5" name="Table 4"/>
          <p:cNvGraphicFramePr>
            <a:graphicFrameLocks noGrp="1"/>
          </p:cNvGraphicFramePr>
          <p:nvPr>
            <p:custDataLst>
              <p:tags r:id="rId1"/>
            </p:custDataLst>
            <p:extLst>
              <p:ext uri="{D42A27DB-BD31-4B8C-83A1-F6EECF244321}">
                <p14:modId xmlns:p14="http://schemas.microsoft.com/office/powerpoint/2010/main" val="3052897019"/>
              </p:ext>
            </p:extLst>
          </p:nvPr>
        </p:nvGraphicFramePr>
        <p:xfrm>
          <a:off x="5833110" y="6087745"/>
          <a:ext cx="6250940" cy="579120"/>
        </p:xfrm>
        <a:graphic>
          <a:graphicData uri="http://schemas.openxmlformats.org/drawingml/2006/table">
            <a:tbl>
              <a:tblPr firstRow="1" bandRow="1">
                <a:tableStyleId>{5C22544A-7EE6-4342-B048-85BDC9FD1C3A}</a:tableStyleId>
              </a:tblPr>
              <a:tblGrid>
                <a:gridCol w="3125470">
                  <a:extLst>
                    <a:ext uri="{9D8B030D-6E8A-4147-A177-3AD203B41FA5}">
                      <a16:colId xmlns:a16="http://schemas.microsoft.com/office/drawing/2014/main" val="20000"/>
                    </a:ext>
                  </a:extLst>
                </a:gridCol>
                <a:gridCol w="3125470">
                  <a:extLst>
                    <a:ext uri="{9D8B030D-6E8A-4147-A177-3AD203B41FA5}">
                      <a16:colId xmlns:a16="http://schemas.microsoft.com/office/drawing/2014/main" val="20001"/>
                    </a:ext>
                  </a:extLst>
                </a:gridCol>
              </a:tblGrid>
              <a:tr h="579120">
                <a:tc>
                  <a:txBody>
                    <a:bodyPr/>
                    <a:lstStyle/>
                    <a:p>
                      <a:r>
                        <a:rPr lang="en-IN" sz="1800" dirty="0">
                          <a:solidFill>
                            <a:schemeClr val="tx1"/>
                          </a:solidFill>
                          <a:latin typeface="Times New Roman" panose="02020603050405020304" pitchFamily="18" charset="0"/>
                          <a:cs typeface="Segoe UI" panose="020B0502040204020203" pitchFamily="34" charset="0"/>
                        </a:rPr>
                        <a:t>Supervisor</a:t>
                      </a:r>
                    </a:p>
                    <a:p>
                      <a:r>
                        <a:rPr lang="en-US" dirty="0" err="1">
                          <a:solidFill>
                            <a:schemeClr val="tx1"/>
                          </a:solidFill>
                        </a:rPr>
                        <a:t>Mrs.Sugathi</a:t>
                      </a:r>
                      <a:r>
                        <a:rPr lang="en-US" dirty="0">
                          <a:solidFill>
                            <a:schemeClr val="tx1"/>
                          </a:solidFill>
                        </a:rPr>
                        <a:t> G</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solidFill>
                            <a:schemeClr val="tx1"/>
                          </a:solidFill>
                        </a:rPr>
                        <a:t>         </a:t>
                      </a:r>
                      <a:r>
                        <a:rPr lang="en-US" sz="1800" dirty="0">
                          <a:solidFill>
                            <a:schemeClr val="tx1"/>
                          </a:solidFill>
                          <a:latin typeface="Times New Roman" panose="02020603050405020304" pitchFamily="18" charset="0"/>
                          <a:cs typeface="Times New Roman" panose="02020603050405020304" pitchFamily="18" charset="0"/>
                        </a:rPr>
                        <a:t> Head of the Department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rPr>
                        <a:t>            </a:t>
                      </a:r>
                      <a:r>
                        <a:rPr lang="en-US" dirty="0" err="1">
                          <a:solidFill>
                            <a:schemeClr val="tx1"/>
                          </a:solidFill>
                        </a:rPr>
                        <a:t>Mrs.Malleshwari</a:t>
                      </a:r>
                      <a:r>
                        <a:rPr lang="en-US" dirty="0">
                          <a:solidFill>
                            <a:schemeClr val="tx1"/>
                          </a:solidFill>
                        </a:rPr>
                        <a:t>                                         </a:t>
                      </a:r>
                    </a:p>
                  </a:txBody>
                  <a:tcP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
          <p:cNvSpPr/>
          <p:nvPr/>
        </p:nvSpPr>
        <p:spPr>
          <a:xfrm>
            <a:off x="5014912" y="230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400" b="1" dirty="0">
                <a:solidFill>
                  <a:srgbClr val="FFFFFF"/>
                </a:solidFill>
                <a:latin typeface="Calibri" panose="020F0502020204030204"/>
                <a:ea typeface="Calibri" panose="020F0502020204030204"/>
                <a:cs typeface="Calibri" panose="020F0502020204030204"/>
                <a:sym typeface="Calibri" panose="020F0502020204030204"/>
              </a:rPr>
              <a:t>PROJECT STRUCTURE</a:t>
            </a:r>
            <a:endParaRPr dirty="0"/>
          </a:p>
        </p:txBody>
      </p:sp>
      <p:sp>
        <p:nvSpPr>
          <p:cNvPr id="142" name="Google Shape;142;p2"/>
          <p:cNvSpPr/>
          <p:nvPr/>
        </p:nvSpPr>
        <p:spPr>
          <a:xfrm>
            <a:off x="3366693" y="1528303"/>
            <a:ext cx="7741657" cy="3391657"/>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The proposed project work consisting of the Chapters as follows.</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1:  Introduction</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2:  Objective</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3:  Literature survey</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4:  Proposed methodology</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5:  Experiments and Results</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6:  Discussion and Conclusion</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1485900" marR="0" lvl="0" indent="-1485900" algn="just" defTabSz="914400" rtl="0" eaLnBrk="1" fontAlgn="base" latinLnBrk="0" hangingPunct="1">
              <a:lnSpc>
                <a:spcPct val="100000"/>
              </a:lnSpc>
              <a:spcBef>
                <a:spcPct val="20000"/>
              </a:spcBef>
              <a:spcAft>
                <a:spcPct val="0"/>
              </a:spcAft>
              <a:buClr>
                <a:schemeClr val="hlink"/>
              </a:buClr>
              <a:buSzPct val="120000"/>
              <a:buFontTx/>
              <a:buNone/>
              <a:defRPr/>
            </a:pP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r>
              <a:rPr lang="en-US" sz="20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INTRODUCTION</a:t>
            </a:r>
          </a:p>
        </p:txBody>
      </p:sp>
      <p:sp>
        <p:nvSpPr>
          <p:cNvPr id="3" name="Text Box 2"/>
          <p:cNvSpPr txBox="1"/>
          <p:nvPr/>
        </p:nvSpPr>
        <p:spPr>
          <a:xfrm>
            <a:off x="1733938" y="1516482"/>
            <a:ext cx="9226505" cy="1274445"/>
          </a:xfrm>
          <a:prstGeom prst="rect">
            <a:avLst/>
          </a:prstGeom>
          <a:noFill/>
        </p:spPr>
        <p:txBody>
          <a:bodyPr wrap="square" rtlCol="0" anchor="t">
            <a:noAutofit/>
          </a:bodyPr>
          <a:lstStyle/>
          <a:p>
            <a:pPr algn="just"/>
            <a:r>
              <a:rPr lang="en-US" sz="2400" dirty="0">
                <a:latin typeface="Arial Black" panose="020B0A04020102020204" pitchFamily="34" charset="0"/>
              </a:rPr>
              <a:t>Travel planning can be a complex and time-consuming task due to the overwhelming amount of information available online. Traditional tour booking platforms often offer generic packages that may not align with individual preferences. To address this challenge, this project proposes a Personalized Tour Recommendation System with Real-Time Chat Support.</a:t>
            </a:r>
          </a:p>
          <a:p>
            <a:pPr algn="just"/>
            <a:endParaRPr lang="en-US" sz="2400" dirty="0">
              <a:latin typeface="Arial Black"/>
              <a:cs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OBJECTIVE</a:t>
            </a:r>
          </a:p>
        </p:txBody>
      </p:sp>
      <p:sp>
        <p:nvSpPr>
          <p:cNvPr id="4" name="TextBox 3">
            <a:extLst>
              <a:ext uri="{FF2B5EF4-FFF2-40B4-BE49-F238E27FC236}">
                <a16:creationId xmlns:a16="http://schemas.microsoft.com/office/drawing/2014/main" id="{8164CC76-1BCE-7097-BC7E-BD3D0DC52382}"/>
              </a:ext>
            </a:extLst>
          </p:cNvPr>
          <p:cNvSpPr txBox="1"/>
          <p:nvPr/>
        </p:nvSpPr>
        <p:spPr>
          <a:xfrm>
            <a:off x="1458097" y="1720889"/>
            <a:ext cx="9242854" cy="4154984"/>
          </a:xfrm>
          <a:prstGeom prst="rect">
            <a:avLst/>
          </a:prstGeom>
          <a:noFill/>
        </p:spPr>
        <p:txBody>
          <a:bodyPr wrap="square">
            <a:spAutoFit/>
          </a:bodyPr>
          <a:lstStyle/>
          <a:p>
            <a:pPr marL="342900" indent="-342900" algn="just">
              <a:buFont typeface="Wingdings" panose="05000000000000000000" pitchFamily="2" charset="2"/>
              <a:buChar char="Ø"/>
            </a:pPr>
            <a:r>
              <a:rPr lang="en-US" sz="2400" b="1" dirty="0">
                <a:latin typeface="Arial Black" panose="020B0A04020102020204" pitchFamily="34" charset="0"/>
              </a:rPr>
              <a:t>To design and implement an AI‑powered tour recommendation system using a chatbot interface.</a:t>
            </a:r>
          </a:p>
          <a:p>
            <a:pPr marL="342900" indent="-342900" algn="just">
              <a:buFont typeface="Wingdings" panose="05000000000000000000" pitchFamily="2" charset="2"/>
              <a:buChar char="Ø"/>
            </a:pPr>
            <a:r>
              <a:rPr lang="en-US" sz="2400" b="1" dirty="0">
                <a:latin typeface="Arial Black" panose="020B0A04020102020204" pitchFamily="34" charset="0"/>
              </a:rPr>
              <a:t>To personalize travel suggestions based on user preferences such as budget, food, family/group type, nature/adventure interests, and religious tourism.</a:t>
            </a:r>
          </a:p>
          <a:p>
            <a:pPr marL="342900" indent="-342900" algn="just">
              <a:buFont typeface="Wingdings" panose="05000000000000000000" pitchFamily="2" charset="2"/>
              <a:buChar char="Ø"/>
            </a:pPr>
            <a:r>
              <a:rPr lang="en-US" sz="2400" b="1" dirty="0">
                <a:latin typeface="Arial Black" panose="020B0A04020102020204" pitchFamily="34" charset="0"/>
              </a:rPr>
              <a:t>To identify low‑budget destinations with affordable food, hotel stays, and local tourist guides.</a:t>
            </a:r>
          </a:p>
          <a:p>
            <a:pPr marL="342900" indent="-342900">
              <a:buFont typeface="Wingdings" panose="05000000000000000000" pitchFamily="2" charset="2"/>
              <a:buChar char="Ø"/>
            </a:pPr>
            <a:endParaRPr lang="en-US" sz="2400" b="1" dirty="0">
              <a:latin typeface="Aptos" panose="020B0004020202020204" pitchFamily="34" charset="0"/>
            </a:endParaRPr>
          </a:p>
          <a:p>
            <a:pPr marL="342900" indent="-342900">
              <a:buFont typeface="Wingdings" panose="05000000000000000000" pitchFamily="2" charset="2"/>
              <a:buChar char="Ø"/>
            </a:pPr>
            <a:endParaRPr lang="en-US" sz="2400" b="1" dirty="0">
              <a:latin typeface="Aptos" panose="020B0004020202020204" pitchFamily="34" charset="0"/>
            </a:endParaRPr>
          </a:p>
          <a:p>
            <a:pPr marL="342900" indent="-342900">
              <a:buFont typeface="Wingdings" panose="05000000000000000000" pitchFamily="2" charset="2"/>
              <a:buChar char="Ø"/>
            </a:pPr>
            <a:endParaRPr lang="en-IN" sz="24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C57-940F-2E53-7ABE-B1CE9E0E7EA4}"/>
              </a:ext>
            </a:extLst>
          </p:cNvPr>
          <p:cNvSpPr>
            <a:spLocks noGrp="1"/>
          </p:cNvSpPr>
          <p:nvPr>
            <p:ph type="title"/>
          </p:nvPr>
        </p:nvSpPr>
        <p:spPr/>
        <p:txBody>
          <a:bodyPr/>
          <a:lstStyle/>
          <a:p>
            <a:br>
              <a:rPr lang="en-US" dirty="0"/>
            </a:br>
            <a:endParaRPr lang="en-US" dirty="0"/>
          </a:p>
        </p:txBody>
      </p:sp>
      <p:sp>
        <p:nvSpPr>
          <p:cNvPr id="3" name="Google Shape;136;p2">
            <a:extLst>
              <a:ext uri="{FF2B5EF4-FFF2-40B4-BE49-F238E27FC236}">
                <a16:creationId xmlns:a16="http://schemas.microsoft.com/office/drawing/2014/main" id="{06B79CC0-6E00-BD87-16A2-FA1C3B499E89}"/>
              </a:ext>
            </a:extLst>
          </p:cNvPr>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Existing System</a:t>
            </a:r>
          </a:p>
        </p:txBody>
      </p:sp>
      <p:sp>
        <p:nvSpPr>
          <p:cNvPr id="4" name="TextBox 3">
            <a:extLst>
              <a:ext uri="{FF2B5EF4-FFF2-40B4-BE49-F238E27FC236}">
                <a16:creationId xmlns:a16="http://schemas.microsoft.com/office/drawing/2014/main" id="{6E649E15-13D1-6921-9DF8-88E31233AF47}"/>
              </a:ext>
            </a:extLst>
          </p:cNvPr>
          <p:cNvSpPr txBox="1"/>
          <p:nvPr/>
        </p:nvSpPr>
        <p:spPr>
          <a:xfrm>
            <a:off x="1075038" y="1890584"/>
            <a:ext cx="10750378" cy="3262432"/>
          </a:xfrm>
          <a:prstGeom prst="rect">
            <a:avLst/>
          </a:prstGeom>
          <a:noFill/>
        </p:spPr>
        <p:txBody>
          <a:bodyPr wrap="square" rtlCol="0">
            <a:spAutoFit/>
          </a:bodyPr>
          <a:lstStyle/>
          <a:p>
            <a:pPr>
              <a:spcBef>
                <a:spcPct val="0"/>
              </a:spcBef>
              <a:buFontTx/>
              <a:buChar char="•"/>
            </a:pPr>
            <a:r>
              <a:rPr lang="en-IN" altLang="en-US" sz="2400" dirty="0">
                <a:latin typeface="Arial" panose="020B0604020202020204" pitchFamily="34" charset="0"/>
              </a:rPr>
              <a:t>Most travel planning is done manually by users through various websites and apps.</a:t>
            </a:r>
          </a:p>
          <a:p>
            <a:pPr>
              <a:spcBef>
                <a:spcPct val="0"/>
              </a:spcBef>
              <a:buFontTx/>
              <a:buChar char="•"/>
            </a:pPr>
            <a:r>
              <a:rPr lang="en-IN" altLang="en-US" sz="2400" dirty="0">
                <a:latin typeface="Arial" panose="020B0604020202020204" pitchFamily="34" charset="0"/>
              </a:rPr>
              <a:t>Tour booking platforms like MakeMyTrip, TripAdvisor, and Yatra offer general package listings, not personalized suggestions.</a:t>
            </a:r>
          </a:p>
          <a:p>
            <a:pPr>
              <a:spcBef>
                <a:spcPct val="0"/>
              </a:spcBef>
              <a:buFontTx/>
              <a:buChar char="•"/>
            </a:pPr>
            <a:r>
              <a:rPr lang="en-IN" altLang="en-US" sz="2400" dirty="0">
                <a:latin typeface="Arial" panose="020B0604020202020204" pitchFamily="34" charset="0"/>
              </a:rPr>
              <a:t>Current systems lack deep personalization based on user-specific preferences (interests, season, budget, etc.).</a:t>
            </a:r>
          </a:p>
          <a:p>
            <a:pPr>
              <a:spcBef>
                <a:spcPct val="0"/>
              </a:spcBef>
              <a:buFontTx/>
              <a:buChar char="•"/>
            </a:pPr>
            <a:r>
              <a:rPr lang="en-IN" altLang="en-US" sz="2400" dirty="0">
                <a:latin typeface="Arial" panose="020B0604020202020204" pitchFamily="34" charset="0"/>
              </a:rPr>
              <a:t>Limited or no integration of real-time support in small or mid-scale systems.</a:t>
            </a:r>
          </a:p>
          <a:p>
            <a:pPr>
              <a:spcBef>
                <a:spcPct val="0"/>
              </a:spcBef>
              <a:buFontTx/>
              <a:buChar char="•"/>
            </a:pPr>
            <a:r>
              <a:rPr lang="en-IN" altLang="en-US" sz="2400" dirty="0">
                <a:latin typeface="Arial" panose="020B0604020202020204" pitchFamily="34" charset="0"/>
              </a:rPr>
              <a:t>Users often rely on third-party agents or blogs for suggestions and support.</a:t>
            </a:r>
          </a:p>
          <a:p>
            <a:endParaRPr lang="en-US" dirty="0"/>
          </a:p>
        </p:txBody>
      </p:sp>
    </p:spTree>
    <p:extLst>
      <p:ext uri="{BB962C8B-B14F-4D97-AF65-F5344CB8AC3E}">
        <p14:creationId xmlns:p14="http://schemas.microsoft.com/office/powerpoint/2010/main" val="3633974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PROPOSED METHODOLOGY </a:t>
            </a:r>
          </a:p>
        </p:txBody>
      </p:sp>
      <p:sp>
        <p:nvSpPr>
          <p:cNvPr id="5" name="Rectangle 2">
            <a:extLst>
              <a:ext uri="{FF2B5EF4-FFF2-40B4-BE49-F238E27FC236}">
                <a16:creationId xmlns:a16="http://schemas.microsoft.com/office/drawing/2014/main" id="{0F61E671-72C0-6D55-CCDE-8510AFE4E381}"/>
              </a:ext>
            </a:extLst>
          </p:cNvPr>
          <p:cNvSpPr>
            <a:spLocks noChangeArrowheads="1"/>
          </p:cNvSpPr>
          <p:nvPr/>
        </p:nvSpPr>
        <p:spPr bwMode="auto">
          <a:xfrm>
            <a:off x="1176018" y="1234004"/>
            <a:ext cx="1032812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2400" dirty="0"/>
              <a:t>  </a:t>
            </a:r>
            <a:r>
              <a:rPr lang="en-US" sz="2400" dirty="0">
                <a:latin typeface="Arial Black" panose="020B0A04020102020204" pitchFamily="34" charset="0"/>
              </a:rPr>
              <a:t>User provides preferences (budget, travel type, group size,   food, religion).</a:t>
            </a:r>
          </a:p>
          <a:p>
            <a:pPr marL="342900" indent="-342900" algn="just">
              <a:buFont typeface="Arial" panose="020B0604020202020204" pitchFamily="34" charset="0"/>
              <a:buChar char="•"/>
            </a:pPr>
            <a:r>
              <a:rPr lang="en-US" sz="2400" dirty="0">
                <a:latin typeface="Arial Black" panose="020B0A04020102020204" pitchFamily="34" charset="0"/>
              </a:rPr>
              <a:t> AI chatbot processes user queries.</a:t>
            </a:r>
          </a:p>
          <a:p>
            <a:pPr marL="342900" indent="-342900" algn="just">
              <a:buFont typeface="Arial" panose="020B0604020202020204" pitchFamily="34" charset="0"/>
              <a:buChar char="•"/>
            </a:pPr>
            <a:r>
              <a:rPr lang="en-US" sz="2400" dirty="0">
                <a:latin typeface="Arial Black" panose="020B0A04020102020204" pitchFamily="34" charset="0"/>
              </a:rPr>
              <a:t>Frontend (HTML,CSS,JAVASCRIPT).</a:t>
            </a:r>
          </a:p>
          <a:p>
            <a:pPr marL="342900" indent="-342900" algn="just">
              <a:buFont typeface="Arial" panose="020B0604020202020204" pitchFamily="34" charset="0"/>
              <a:buChar char="•"/>
            </a:pPr>
            <a:r>
              <a:rPr lang="en-US" sz="2400" dirty="0">
                <a:latin typeface="Arial Black" panose="020B0A04020102020204" pitchFamily="34" charset="0"/>
              </a:rPr>
              <a:t>Backend (NODE JS &amp; MYSQL).</a:t>
            </a:r>
          </a:p>
          <a:p>
            <a:pPr marL="342900" indent="-342900" algn="just">
              <a:buFont typeface="Arial" panose="020B0604020202020204" pitchFamily="34" charset="0"/>
              <a:buChar char="•"/>
            </a:pPr>
            <a:r>
              <a:rPr lang="en-US" sz="2400" dirty="0">
                <a:latin typeface="Arial Black" panose="020B0A04020102020204" pitchFamily="34" charset="0"/>
              </a:rPr>
              <a:t>Framework (</a:t>
            </a:r>
            <a:r>
              <a:rPr lang="en-US" sz="2400" dirty="0" err="1">
                <a:latin typeface="Arial Black" panose="020B0A04020102020204" pitchFamily="34" charset="0"/>
              </a:rPr>
              <a:t>SpringBoot</a:t>
            </a:r>
            <a:r>
              <a:rPr lang="en-US" sz="2400" dirty="0">
                <a:latin typeface="Arial Black" panose="020B0A04020102020204" pitchFamily="34" charset="0"/>
              </a:rPr>
              <a:t>).</a:t>
            </a:r>
          </a:p>
          <a:p>
            <a:pPr marL="342900" indent="-342900" algn="just">
              <a:buFont typeface="Arial" panose="020B0604020202020204" pitchFamily="34" charset="0"/>
              <a:buChar char="•"/>
            </a:pPr>
            <a:r>
              <a:rPr lang="en-US" sz="2400" dirty="0">
                <a:latin typeface="Arial Black" panose="020B0A04020102020204" pitchFamily="34" charset="0"/>
              </a:rPr>
              <a:t> Recommendation engine filters suitable destinations.</a:t>
            </a:r>
          </a:p>
          <a:p>
            <a:pPr marL="342900" indent="-342900" algn="just">
              <a:buFont typeface="Arial" panose="020B0604020202020204" pitchFamily="34" charset="0"/>
              <a:buChar char="•"/>
            </a:pPr>
            <a:r>
              <a:rPr lang="en-US" sz="2400" dirty="0">
                <a:latin typeface="Arial Black" panose="020B0A04020102020204" pitchFamily="34" charset="0"/>
              </a:rPr>
              <a:t> System suggests places, hotels, food options, and local guides.</a:t>
            </a:r>
          </a:p>
          <a:p>
            <a:pPr marL="342900" indent="-342900" algn="just">
              <a:buFont typeface="Arial" panose="020B0604020202020204" pitchFamily="34" charset="0"/>
              <a:buChar char="•"/>
            </a:pPr>
            <a:r>
              <a:rPr lang="en-US" sz="2400" dirty="0">
                <a:latin typeface="Arial Black" panose="020B0A04020102020204" pitchFamily="34" charset="0"/>
              </a:rPr>
              <a:t> Results displayed in an interactive web interface.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0"/>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 MODULES </a:t>
            </a:r>
          </a:p>
        </p:txBody>
      </p:sp>
      <p:sp>
        <p:nvSpPr>
          <p:cNvPr id="2" name="Text Box 1"/>
          <p:cNvSpPr txBox="1"/>
          <p:nvPr/>
        </p:nvSpPr>
        <p:spPr>
          <a:xfrm>
            <a:off x="1274883" y="830797"/>
            <a:ext cx="9338310" cy="4890135"/>
          </a:xfrm>
          <a:prstGeom prst="rect">
            <a:avLst/>
          </a:prstGeom>
          <a:noFill/>
        </p:spPr>
        <p:txBody>
          <a:bodyPr wrap="square" rtlCol="0" anchor="t">
            <a:noAutofit/>
          </a:bodyPr>
          <a:lstStyle/>
          <a:p>
            <a:r>
              <a:rPr lang="en-US" sz="2000" b="1" dirty="0"/>
              <a:t>1. User Input &amp; Profile Module:</a:t>
            </a:r>
          </a:p>
          <a:p>
            <a:pPr>
              <a:buFont typeface="Arial" panose="020B0604020202020204" pitchFamily="34" charset="0"/>
              <a:buChar char="•"/>
            </a:pPr>
            <a:r>
              <a:rPr lang="en-US" sz="2000" dirty="0"/>
              <a:t>Captures user details such as preferences, budget, and interests. </a:t>
            </a:r>
          </a:p>
          <a:p>
            <a:pPr>
              <a:buFont typeface="Arial" panose="020B0604020202020204" pitchFamily="34" charset="0"/>
              <a:buChar char="•"/>
            </a:pPr>
            <a:r>
              <a:rPr lang="en-US" sz="2000" dirty="0"/>
              <a:t>Stores user data for personalized recommendations.</a:t>
            </a:r>
            <a:endParaRPr lang="en-US" sz="2000" b="1" dirty="0"/>
          </a:p>
          <a:p>
            <a:r>
              <a:rPr lang="en-US" sz="2000" b="1" dirty="0"/>
              <a:t>2. Recommendation Engine Module:</a:t>
            </a:r>
          </a:p>
          <a:p>
            <a:pPr>
              <a:buFont typeface="Arial" panose="020B0604020202020204" pitchFamily="34" charset="0"/>
              <a:buChar char="•"/>
            </a:pPr>
            <a:r>
              <a:rPr lang="en-US" sz="2000" dirty="0"/>
              <a:t>Uses hybrid algorithms (content-based + collaborative filtering). </a:t>
            </a:r>
          </a:p>
          <a:p>
            <a:pPr>
              <a:buFont typeface="Arial" panose="020B0604020202020204" pitchFamily="34" charset="0"/>
              <a:buChar char="•"/>
            </a:pPr>
            <a:r>
              <a:rPr lang="en-US" sz="2000" dirty="0"/>
              <a:t>Generates personalized tour suggestions based on user behavior.</a:t>
            </a:r>
          </a:p>
          <a:p>
            <a:r>
              <a:rPr lang="en-US" sz="2000" b="1" dirty="0"/>
              <a:t>3. Search &amp; Filtering Module:</a:t>
            </a:r>
          </a:p>
          <a:p>
            <a:pPr>
              <a:buFont typeface="Arial" panose="020B0604020202020204" pitchFamily="34" charset="0"/>
              <a:buChar char="•"/>
            </a:pPr>
            <a:r>
              <a:rPr lang="en-US" sz="2000" dirty="0"/>
              <a:t>Allows users to filter tours by price, location, duration, and type. </a:t>
            </a:r>
          </a:p>
          <a:p>
            <a:pPr>
              <a:buFont typeface="Arial" panose="020B0604020202020204" pitchFamily="34" charset="0"/>
              <a:buChar char="•"/>
            </a:pPr>
            <a:r>
              <a:rPr lang="en-US" sz="2000" dirty="0"/>
              <a:t>Improves accuracy of search results.</a:t>
            </a:r>
          </a:p>
          <a:p>
            <a:r>
              <a:rPr lang="en-US" sz="2000" b="1" dirty="0"/>
              <a:t>4. Real-Time Chat Support Module:</a:t>
            </a:r>
          </a:p>
          <a:p>
            <a:pPr>
              <a:buFont typeface="Arial" panose="020B0604020202020204" pitchFamily="34" charset="0"/>
              <a:buChar char="•"/>
            </a:pPr>
            <a:r>
              <a:rPr lang="en-US" sz="2000" dirty="0"/>
              <a:t>Uses NLP to understand user queries. </a:t>
            </a:r>
          </a:p>
          <a:p>
            <a:pPr>
              <a:buFont typeface="Arial" panose="020B0604020202020204" pitchFamily="34" charset="0"/>
              <a:buChar char="•"/>
            </a:pPr>
            <a:r>
              <a:rPr lang="en-US" sz="2000" dirty="0"/>
              <a:t>Provides instant assistance and travel suggestions.</a:t>
            </a:r>
          </a:p>
          <a:p>
            <a:r>
              <a:rPr lang="en-US" sz="2000" b="1" dirty="0"/>
              <a:t>5. Feedback &amp; Monitoring Module:</a:t>
            </a:r>
          </a:p>
          <a:p>
            <a:pPr>
              <a:buFont typeface="Arial" panose="020B0604020202020204" pitchFamily="34" charset="0"/>
              <a:buChar char="•"/>
            </a:pPr>
            <a:r>
              <a:rPr lang="en-US" sz="2000" dirty="0"/>
              <a:t>Collects user feedback and ratings. </a:t>
            </a:r>
          </a:p>
          <a:p>
            <a:pPr>
              <a:buFont typeface="Arial" panose="020B0604020202020204" pitchFamily="34" charset="0"/>
              <a:buChar char="•"/>
            </a:pPr>
            <a:r>
              <a:rPr lang="en-US" sz="2000" dirty="0"/>
              <a:t>Improves system performance and recommendation accuracy.</a:t>
            </a:r>
          </a:p>
          <a:p>
            <a:endParaRPr lang="en-US" sz="2000" dirty="0"/>
          </a:p>
          <a:p>
            <a:endParaRPr lang="en-US" sz="2000" dirty="0"/>
          </a:p>
          <a:p>
            <a:endParaRPr lang="en-US" sz="2000" dirty="0"/>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endParaRPr lang="en-US" sz="1600" dirty="0">
              <a:effectLst/>
              <a:latin typeface="Bookman Old Style" panose="020506040505050202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BLOCK DIAGRAM</a:t>
            </a:r>
          </a:p>
        </p:txBody>
      </p:sp>
      <p:sp>
        <p:nvSpPr>
          <p:cNvPr id="3" name="AutoShape 2" descr="Arduino-Based Automatic Railway Crossing System - HTE Babgladesh">
            <a:extLst>
              <a:ext uri="{FF2B5EF4-FFF2-40B4-BE49-F238E27FC236}">
                <a16:creationId xmlns:a16="http://schemas.microsoft.com/office/drawing/2014/main" id="{A3AB0FAA-B862-C508-317F-89CF0C6D41B9}"/>
              </a:ext>
            </a:extLst>
          </p:cNvPr>
          <p:cNvSpPr>
            <a:spLocks noChangeAspect="1" noChangeArrowheads="1"/>
          </p:cNvSpPr>
          <p:nvPr/>
        </p:nvSpPr>
        <p:spPr bwMode="auto">
          <a:xfrm>
            <a:off x="5943599" y="1256071"/>
            <a:ext cx="2325329" cy="23253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0BFA175E-A341-9CD3-F9DC-46F1FFF5EC27}"/>
              </a:ext>
            </a:extLst>
          </p:cNvPr>
          <p:cNvPicPr>
            <a:picLocks noChangeAspect="1"/>
          </p:cNvPicPr>
          <p:nvPr/>
        </p:nvPicPr>
        <p:blipFill>
          <a:blip r:embed="rId2"/>
          <a:stretch>
            <a:fillRect/>
          </a:stretch>
        </p:blipFill>
        <p:spPr>
          <a:xfrm>
            <a:off x="952500" y="1075038"/>
            <a:ext cx="10287000" cy="4930346"/>
          </a:xfrm>
          <a:prstGeom prst="rect">
            <a:avLst/>
          </a:prstGeom>
        </p:spPr>
      </p:pic>
      <p:pic>
        <p:nvPicPr>
          <p:cNvPr id="11" name="Picture 10">
            <a:extLst>
              <a:ext uri="{FF2B5EF4-FFF2-40B4-BE49-F238E27FC236}">
                <a16:creationId xmlns:a16="http://schemas.microsoft.com/office/drawing/2014/main" id="{C7F4E0D9-0010-C4B9-9D02-A6C411159EE4}"/>
              </a:ext>
            </a:extLst>
          </p:cNvPr>
          <p:cNvPicPr>
            <a:picLocks noChangeAspect="1"/>
          </p:cNvPicPr>
          <p:nvPr/>
        </p:nvPicPr>
        <p:blipFill>
          <a:blip r:embed="rId3"/>
          <a:stretch>
            <a:fillRect/>
          </a:stretch>
        </p:blipFill>
        <p:spPr>
          <a:xfrm>
            <a:off x="2812083" y="1017484"/>
            <a:ext cx="8427417" cy="8287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LITERATURE SURVEY TEMPLATE</a:t>
            </a:r>
          </a:p>
        </p:txBody>
      </p:sp>
      <p:graphicFrame>
        <p:nvGraphicFramePr>
          <p:cNvPr id="2" name="Table 1"/>
          <p:cNvGraphicFramePr/>
          <p:nvPr>
            <p:extLst>
              <p:ext uri="{D42A27DB-BD31-4B8C-83A1-F6EECF244321}">
                <p14:modId xmlns:p14="http://schemas.microsoft.com/office/powerpoint/2010/main" val="3774985240"/>
              </p:ext>
            </p:extLst>
          </p:nvPr>
        </p:nvGraphicFramePr>
        <p:xfrm>
          <a:off x="1703671" y="933649"/>
          <a:ext cx="8667884" cy="4966142"/>
        </p:xfrm>
        <a:graphic>
          <a:graphicData uri="http://schemas.openxmlformats.org/drawingml/2006/table">
            <a:tbl>
              <a:tblPr firstRow="1" bandRow="1">
                <a:tableStyleId>{5C22544A-7EE6-4342-B048-85BDC9FD1C3A}</a:tableStyleId>
              </a:tblPr>
              <a:tblGrid>
                <a:gridCol w="4333942">
                  <a:extLst>
                    <a:ext uri="{9D8B030D-6E8A-4147-A177-3AD203B41FA5}">
                      <a16:colId xmlns:a16="http://schemas.microsoft.com/office/drawing/2014/main" val="20000"/>
                    </a:ext>
                  </a:extLst>
                </a:gridCol>
                <a:gridCol w="4333942">
                  <a:extLst>
                    <a:ext uri="{9D8B030D-6E8A-4147-A177-3AD203B41FA5}">
                      <a16:colId xmlns:a16="http://schemas.microsoft.com/office/drawing/2014/main" val="20001"/>
                    </a:ext>
                  </a:extLst>
                </a:gridCol>
              </a:tblGrid>
              <a:tr h="460164">
                <a:tc gridSpan="2">
                  <a:txBody>
                    <a:bodyPr/>
                    <a:lstStyle/>
                    <a:p>
                      <a:pPr>
                        <a:buNone/>
                      </a:pPr>
                      <a:r>
                        <a:rPr lang="en-US" dirty="0"/>
                        <a:t>RESEARCH ARTICLE :01</a:t>
                      </a:r>
                    </a:p>
                  </a:txBody>
                  <a:tcPr/>
                </a:tc>
                <a:tc hMerge="1">
                  <a:txBody>
                    <a:bodyPr/>
                    <a:lstStyle/>
                    <a:p>
                      <a:endParaRPr lang="en-US"/>
                    </a:p>
                  </a:txBody>
                  <a:tcPr/>
                </a:tc>
                <a:extLst>
                  <a:ext uri="{0D108BD9-81ED-4DB2-BD59-A6C34878D82A}">
                    <a16:rowId xmlns:a16="http://schemas.microsoft.com/office/drawing/2014/main" val="10000"/>
                  </a:ext>
                </a:extLst>
              </a:tr>
              <a:tr h="883514">
                <a:tc>
                  <a:txBody>
                    <a:bodyPr/>
                    <a:lstStyle/>
                    <a:p>
                      <a:pPr>
                        <a:buNone/>
                      </a:pPr>
                      <a:r>
                        <a:rPr lang="en-US"/>
                        <a:t>TITLE OF THE RESEARCH ARTICLE </a:t>
                      </a:r>
                    </a:p>
                  </a:txBody>
                  <a:tcPr/>
                </a:tc>
                <a:tc>
                  <a:txBody>
                    <a:bodyPr/>
                    <a:lstStyle/>
                    <a:p>
                      <a:pPr>
                        <a:buNone/>
                      </a:pPr>
                      <a:r>
                        <a:rPr lang="en-US" dirty="0"/>
                        <a:t>Design and Development of a Personalized Tour Recommendation System with Real-Time Chat Support</a:t>
                      </a:r>
                    </a:p>
                  </a:txBody>
                  <a:tcPr/>
                </a:tc>
                <a:extLst>
                  <a:ext uri="{0D108BD9-81ED-4DB2-BD59-A6C34878D82A}">
                    <a16:rowId xmlns:a16="http://schemas.microsoft.com/office/drawing/2014/main" val="10001"/>
                  </a:ext>
                </a:extLst>
              </a:tr>
              <a:tr h="696384">
                <a:tc>
                  <a:txBody>
                    <a:bodyPr/>
                    <a:lstStyle/>
                    <a:p>
                      <a:pPr>
                        <a:buNone/>
                      </a:pPr>
                      <a:r>
                        <a:rPr lang="en-US">
                          <a:solidFill>
                            <a:schemeClr val="tx1"/>
                          </a:solidFill>
                        </a:rPr>
                        <a:t>PROBLEM ADDRESSED / IDENTIFIED</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dirty="0"/>
                        <a:t>Users face difficulty in selecting suitable travel options due to lack of personalization and overwhelming choices.</a:t>
                      </a:r>
                    </a:p>
                  </a:txBody>
                  <a:tcPr/>
                </a:tc>
                <a:extLst>
                  <a:ext uri="{0D108BD9-81ED-4DB2-BD59-A6C34878D82A}">
                    <a16:rowId xmlns:a16="http://schemas.microsoft.com/office/drawing/2014/main" val="10002"/>
                  </a:ext>
                </a:extLst>
              </a:tr>
              <a:tr h="696384">
                <a:tc>
                  <a:txBody>
                    <a:bodyPr/>
                    <a:lstStyle/>
                    <a:p>
                      <a:pPr>
                        <a:buNone/>
                      </a:pPr>
                      <a:r>
                        <a:rPr lang="en-US"/>
                        <a:t>AIM / OBJECTIVES</a:t>
                      </a:r>
                    </a:p>
                  </a:txBody>
                  <a:tcPr/>
                </a:tc>
                <a:tc>
                  <a:txBody>
                    <a:bodyPr/>
                    <a:lstStyle/>
                    <a:p>
                      <a:pPr>
                        <a:buNone/>
                      </a:pPr>
                      <a:r>
                        <a:rPr lang="en-US" dirty="0"/>
                        <a:t>To develop an AI-based system that provides personalized tour recommendations and real-time chat support.</a:t>
                      </a:r>
                    </a:p>
                  </a:txBody>
                  <a:tcPr/>
                </a:tc>
                <a:extLst>
                  <a:ext uri="{0D108BD9-81ED-4DB2-BD59-A6C34878D82A}">
                    <a16:rowId xmlns:a16="http://schemas.microsoft.com/office/drawing/2014/main" val="10003"/>
                  </a:ext>
                </a:extLst>
              </a:tr>
              <a:tr h="696384">
                <a:tc>
                  <a:txBody>
                    <a:bodyPr/>
                    <a:lstStyle/>
                    <a:p>
                      <a:pPr>
                        <a:buNone/>
                      </a:pPr>
                      <a:r>
                        <a:rPr lang="en-US"/>
                        <a:t>NOVELTY / SIGNIFICANCE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dirty="0"/>
                        <a:t> Combines hybrid recommendation (content + collaborative) with real-time chat for better user experience.</a:t>
                      </a:r>
                    </a:p>
                  </a:txBody>
                  <a:tcPr/>
                </a:tc>
                <a:extLst>
                  <a:ext uri="{0D108BD9-81ED-4DB2-BD59-A6C34878D82A}">
                    <a16:rowId xmlns:a16="http://schemas.microsoft.com/office/drawing/2014/main" val="10004"/>
                  </a:ext>
                </a:extLst>
              </a:tr>
              <a:tr h="696384">
                <a:tc>
                  <a:txBody>
                    <a:bodyPr/>
                    <a:lstStyle/>
                    <a:p>
                      <a:pPr>
                        <a:buNone/>
                      </a:pPr>
                      <a:r>
                        <a:rPr lang="en-US" dirty="0"/>
                        <a:t>LIMITATION / WEAKNESS</a:t>
                      </a:r>
                    </a:p>
                  </a:txBody>
                  <a:tcPr/>
                </a:tc>
                <a:tc>
                  <a:txBody>
                    <a:bodyPr/>
                    <a:lstStyle/>
                    <a:p>
                      <a:pPr>
                        <a:buNone/>
                      </a:pPr>
                      <a:r>
                        <a:rPr lang="en-US" dirty="0"/>
                        <a:t>Requires large datasets for accuracy and may face cold-start issues for new users.</a:t>
                      </a:r>
                    </a:p>
                  </a:txBody>
                  <a:tcPr/>
                </a:tc>
                <a:extLst>
                  <a:ext uri="{0D108BD9-81ED-4DB2-BD59-A6C34878D82A}">
                    <a16:rowId xmlns:a16="http://schemas.microsoft.com/office/drawing/2014/main" val="10005"/>
                  </a:ext>
                </a:extLst>
              </a:tr>
              <a:tr h="493272">
                <a:tc>
                  <a:txBody>
                    <a:bodyPr/>
                    <a:lstStyle/>
                    <a:p>
                      <a:pPr>
                        <a:buNone/>
                      </a:pPr>
                      <a:r>
                        <a:rPr lang="en-US" dirty="0"/>
                        <a:t>FINDINGS / CONCLUSION</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dirty="0"/>
                        <a:t>The system improves recommendation accuracy and enhances user engagement through personalized suggestions.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2715" y="233680"/>
            <a:ext cx="3729990" cy="688340"/>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 CONCLUSION                     </a:t>
            </a:r>
          </a:p>
          <a:p>
            <a:pPr marL="0" marR="0" lvl="0" indent="0" algn="ctr" rtl="0">
              <a:lnSpc>
                <a:spcPct val="107000"/>
              </a:lnSpc>
              <a:spcBef>
                <a:spcPts val="0"/>
              </a:spcBef>
              <a:spcAft>
                <a:spcPts val="0"/>
              </a:spcAft>
              <a:buClr>
                <a:srgbClr val="FFFFFF"/>
              </a:buClr>
              <a:buSzPts val="2400"/>
              <a:buFont typeface="Calibri" panose="020F0502020204030204"/>
              <a:buNone/>
            </a:pPr>
            <a:endParaRPr lang="en-US" sz="1600" dirty="0">
              <a:solidFill>
                <a:schemeClr val="bg1"/>
              </a:solidFill>
            </a:endParaRPr>
          </a:p>
        </p:txBody>
      </p:sp>
      <p:sp>
        <p:nvSpPr>
          <p:cNvPr id="4" name="TextBox 3">
            <a:extLst>
              <a:ext uri="{FF2B5EF4-FFF2-40B4-BE49-F238E27FC236}">
                <a16:creationId xmlns:a16="http://schemas.microsoft.com/office/drawing/2014/main" id="{2A944B7C-71DC-872B-EF64-776778FB3E00}"/>
              </a:ext>
            </a:extLst>
          </p:cNvPr>
          <p:cNvSpPr txBox="1"/>
          <p:nvPr/>
        </p:nvSpPr>
        <p:spPr>
          <a:xfrm>
            <a:off x="951271" y="1120676"/>
            <a:ext cx="10289458" cy="2215991"/>
          </a:xfrm>
          <a:prstGeom prst="rect">
            <a:avLst/>
          </a:prstGeom>
          <a:noFill/>
        </p:spPr>
        <p:txBody>
          <a:bodyPr wrap="square">
            <a:spAutoFit/>
          </a:bodyPr>
          <a:lstStyle/>
          <a:p>
            <a:r>
              <a:rPr lang="en-US" sz="2300" dirty="0"/>
              <a:t>The A Tour Recommendation System with chatbot support provides an efficient and user-friendly approach to travel planning by offering personalized suggestions based on user preferences such as budget, travel type, interests, and location. Unlike traditional systems that rely on static information, this system dynamically retrieves data from the database, ensuring accurate and up-to-date recommendations.</a:t>
            </a:r>
            <a:endParaRPr lang="en-IN"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303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1600" dirty="0">
                <a:solidFill>
                  <a:schemeClr val="bg1"/>
                </a:solidFill>
              </a:rPr>
              <a:t>REFERENCE</a:t>
            </a:r>
          </a:p>
        </p:txBody>
      </p:sp>
      <p:sp>
        <p:nvSpPr>
          <p:cNvPr id="4" name="Text Box 3"/>
          <p:cNvSpPr txBox="1"/>
          <p:nvPr/>
        </p:nvSpPr>
        <p:spPr>
          <a:xfrm>
            <a:off x="576029" y="1182231"/>
            <a:ext cx="11615971" cy="517064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Ricci, F., </a:t>
            </a:r>
            <a:r>
              <a:rPr kumimoji="0" lang="en-US" altLang="en-US" sz="2400" b="0" i="0" u="none" strike="noStrike" cap="none" normalizeH="0" baseline="0" dirty="0" err="1">
                <a:ln>
                  <a:noFill/>
                </a:ln>
                <a:solidFill>
                  <a:schemeClr val="tx1"/>
                </a:solidFill>
                <a:effectLst/>
                <a:latin typeface="Arial" panose="020B0604020202020204" pitchFamily="34" charset="0"/>
              </a:rPr>
              <a:t>Rokach</a:t>
            </a:r>
            <a:r>
              <a:rPr kumimoji="0" lang="en-US" altLang="en-US" sz="2400" b="0" i="0" u="none" strike="noStrike" cap="none" normalizeH="0" baseline="0" dirty="0">
                <a:ln>
                  <a:noFill/>
                </a:ln>
                <a:solidFill>
                  <a:schemeClr val="tx1"/>
                </a:solidFill>
                <a:effectLst/>
                <a:latin typeface="Arial" panose="020B0604020202020204" pitchFamily="34" charset="0"/>
              </a:rPr>
              <a:t>, L., &amp; Shapira, B.,</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1" u="none" strike="noStrike" cap="none" normalizeH="0" baseline="0" dirty="0">
                <a:ln>
                  <a:noFill/>
                </a:ln>
                <a:solidFill>
                  <a:schemeClr val="tx1"/>
                </a:solidFill>
                <a:effectLst/>
                <a:latin typeface="Arial" panose="020B0604020202020204" pitchFamily="34" charset="0"/>
              </a:rPr>
              <a:t>Recommender Systems Handbook</a:t>
            </a:r>
            <a:r>
              <a:rPr kumimoji="0" lang="en-US" altLang="en-US" sz="2400" b="0" i="0" u="none" strike="noStrike" cap="none" normalizeH="0" baseline="0" dirty="0">
                <a:ln>
                  <a:noFill/>
                </a:ln>
                <a:solidFill>
                  <a:schemeClr val="tx1"/>
                </a:solidFill>
                <a:effectLst/>
                <a:latin typeface="Arial" panose="020B0604020202020204" pitchFamily="34" charset="0"/>
              </a:rPr>
              <a:t>, Springer, 2011.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err="1">
                <a:ln>
                  <a:noFill/>
                </a:ln>
                <a:solidFill>
                  <a:schemeClr val="tx1"/>
                </a:solidFill>
                <a:effectLst/>
                <a:latin typeface="Arial" panose="020B0604020202020204" pitchFamily="34" charset="0"/>
              </a:rPr>
              <a:t>Pazzani</a:t>
            </a:r>
            <a:r>
              <a:rPr kumimoji="0" lang="en-US" altLang="en-US" sz="2400" b="0" i="0" u="none" strike="noStrike" cap="none" normalizeH="0" baseline="0" dirty="0">
                <a:ln>
                  <a:noFill/>
                </a:ln>
                <a:solidFill>
                  <a:schemeClr val="tx1"/>
                </a:solidFill>
                <a:effectLst/>
                <a:latin typeface="Arial" panose="020B0604020202020204" pitchFamily="34" charset="0"/>
              </a:rPr>
              <a:t>, M. J., &amp; </a:t>
            </a:r>
            <a:r>
              <a:rPr kumimoji="0" lang="en-US" altLang="en-US" sz="2400" b="0" i="0" u="none" strike="noStrike" cap="none" normalizeH="0" baseline="0" dirty="0" err="1">
                <a:ln>
                  <a:noFill/>
                </a:ln>
                <a:solidFill>
                  <a:schemeClr val="tx1"/>
                </a:solidFill>
                <a:effectLst/>
                <a:latin typeface="Arial" panose="020B0604020202020204" pitchFamily="34" charset="0"/>
              </a:rPr>
              <a:t>Billsus</a:t>
            </a:r>
            <a:r>
              <a:rPr kumimoji="0" lang="en-US" altLang="en-US" sz="2400" b="0" i="0" u="none" strike="noStrike" cap="none" normalizeH="0" baseline="0" dirty="0">
                <a:ln>
                  <a:noFill/>
                </a:ln>
                <a:solidFill>
                  <a:schemeClr val="tx1"/>
                </a:solidFill>
                <a:effectLst/>
                <a:latin typeface="Arial" panose="020B0604020202020204" pitchFamily="34" charset="0"/>
              </a:rPr>
              <a:t>, D.,</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1" u="none" strike="noStrike" cap="none" normalizeH="0" baseline="0" dirty="0">
                <a:ln>
                  <a:noFill/>
                </a:ln>
                <a:solidFill>
                  <a:schemeClr val="tx1"/>
                </a:solidFill>
                <a:effectLst/>
                <a:latin typeface="Arial" panose="020B0604020202020204" pitchFamily="34" charset="0"/>
              </a:rPr>
              <a:t>Content-Based Recommendation Systems</a:t>
            </a:r>
            <a:r>
              <a:rPr kumimoji="0" lang="en-US" altLang="en-US" sz="2400" b="0" i="0" u="none" strike="noStrike" cap="none" normalizeH="0" baseline="0" dirty="0">
                <a:ln>
                  <a:noFill/>
                </a:ln>
                <a:solidFill>
                  <a:schemeClr val="tx1"/>
                </a:solidFill>
                <a:effectLst/>
                <a:latin typeface="Arial" panose="020B0604020202020204" pitchFamily="34" charset="0"/>
              </a:rPr>
              <a:t>, Springer, 2007</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1" u="none" strike="noStrike" cap="none" normalizeH="0" baseline="0" dirty="0">
                <a:ln>
                  <a:noFill/>
                </a:ln>
                <a:solidFill>
                  <a:schemeClr val="tx1"/>
                </a:solidFill>
                <a:effectLst/>
                <a:latin typeface="Arial" panose="020B0604020202020204" pitchFamily="34" charset="0"/>
              </a:rPr>
              <a:t>Item-Based Collaborative Filtering Recommendation Algorithms</a:t>
            </a:r>
            <a:r>
              <a:rPr kumimoji="0" lang="en-US" altLang="en-US" sz="2400" b="0" i="0" u="none" strike="noStrike" cap="none" normalizeH="0" baseline="0" dirty="0">
                <a:ln>
                  <a:noFill/>
                </a:ln>
                <a:solidFill>
                  <a:schemeClr val="tx1"/>
                </a:solidFill>
                <a:effectLst/>
                <a:latin typeface="Arial" panose="020B0604020202020204" pitchFamily="34" charset="0"/>
              </a:rPr>
              <a: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WWW Conference, 2001.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Linden, G., Smith, B., &amp; York, J.,</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1" u="none" strike="noStrike" cap="none" normalizeH="0" baseline="0" dirty="0">
                <a:ln>
                  <a:noFill/>
                </a:ln>
                <a:solidFill>
                  <a:schemeClr val="tx1"/>
                </a:solidFill>
                <a:effectLst/>
                <a:latin typeface="Arial" panose="020B0604020202020204" pitchFamily="34" charset="0"/>
              </a:rPr>
              <a:t>Amazon.com Recommendations: Item-to-Item Collaborative Filtering</a:t>
            </a:r>
            <a:r>
              <a:rPr kumimoji="0" lang="en-US" altLang="en-US" sz="2400" b="0" i="0" u="none" strike="noStrike" cap="none" normalizeH="0" baseline="0" dirty="0">
                <a:ln>
                  <a:noFill/>
                </a:ln>
                <a:solidFill>
                  <a:schemeClr val="tx1"/>
                </a:solidFill>
                <a:effectLst/>
                <a:latin typeface="Arial" panose="020B0604020202020204" pitchFamily="34" charset="0"/>
              </a:rPr>
              <a: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IEEE Internet Computing, 2003. </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285750" indent="-285750" algn="just">
              <a:buFont typeface="Arial" panose="020B0604020202020204" pitchFamily="34" charset="0"/>
              <a:buChar char="•"/>
            </a:pPr>
            <a:endParaRPr lang="en-US" sz="1600" b="1" dirty="0">
              <a:solidFill>
                <a:schemeClr val="dk1"/>
              </a:solidFill>
            </a:endParaRPr>
          </a:p>
          <a:p>
            <a:pPr algn="just"/>
            <a:endParaRPr lang="en-US" sz="1600" dirty="0"/>
          </a:p>
          <a:p>
            <a:pPr algn="just"/>
            <a:endParaRPr lang="en-US" sz="1600" dirty="0"/>
          </a:p>
        </p:txBody>
      </p:sp>
      <p:sp>
        <p:nvSpPr>
          <p:cNvPr id="6" name="Rectangle 3">
            <a:extLst>
              <a:ext uri="{FF2B5EF4-FFF2-40B4-BE49-F238E27FC236}">
                <a16:creationId xmlns:a16="http://schemas.microsoft.com/office/drawing/2014/main" id="{5F8E3A7E-584F-6576-FB29-A1F7127FA40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B102AB3E-C13E-F515-FB8A-798E227EE566}"/>
              </a:ext>
            </a:extLst>
          </p:cNvPr>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0" name="Rectangle 5">
            <a:extLst>
              <a:ext uri="{FF2B5EF4-FFF2-40B4-BE49-F238E27FC236}">
                <a16:creationId xmlns:a16="http://schemas.microsoft.com/office/drawing/2014/main" id="{DC6326FA-AD19-71D4-F969-E3461220E2D8}"/>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9879F443-3E56-B1DF-7627-15783936D9E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B48D52C2-6679-4B10-A640-5D15F53356DC}" type="slidenum">
              <a:rPr lang="en-IN" altLang="en-US" sz="1600">
                <a:solidFill>
                  <a:srgbClr val="898989"/>
                </a:solidFill>
              </a:rPr>
              <a:pPr>
                <a:spcBef>
                  <a:spcPct val="0"/>
                </a:spcBef>
                <a:buFontTx/>
                <a:buNone/>
              </a:pPr>
              <a:t>12</a:t>
            </a:fld>
            <a:endParaRPr lang="en-IN" altLang="en-US" sz="1600">
              <a:solidFill>
                <a:srgbClr val="898989"/>
              </a:solidFill>
            </a:endParaRPr>
          </a:p>
        </p:txBody>
      </p:sp>
      <p:sp>
        <p:nvSpPr>
          <p:cNvPr id="12292" name="TextBox 4">
            <a:extLst>
              <a:ext uri="{FF2B5EF4-FFF2-40B4-BE49-F238E27FC236}">
                <a16:creationId xmlns:a16="http://schemas.microsoft.com/office/drawing/2014/main" id="{BBA0248F-6C61-AB20-FBB8-2429429678EC}"/>
              </a:ext>
            </a:extLst>
          </p:cNvPr>
          <p:cNvSpPr txBox="1">
            <a:spLocks noChangeArrowheads="1"/>
          </p:cNvSpPr>
          <p:nvPr/>
        </p:nvSpPr>
        <p:spPr bwMode="auto">
          <a:xfrm>
            <a:off x="814918" y="165101"/>
            <a:ext cx="5473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latin typeface="Arial" panose="020B0604020202020204" pitchFamily="34" charset="0"/>
              </a:rPr>
              <a:t>LOGIN PAGE:</a:t>
            </a:r>
          </a:p>
        </p:txBody>
      </p:sp>
      <p:pic>
        <p:nvPicPr>
          <p:cNvPr id="3" name="Picture 2">
            <a:extLst>
              <a:ext uri="{FF2B5EF4-FFF2-40B4-BE49-F238E27FC236}">
                <a16:creationId xmlns:a16="http://schemas.microsoft.com/office/drawing/2014/main" id="{911E12E3-D609-B01A-0B03-2661B88B63BF}"/>
              </a:ext>
            </a:extLst>
          </p:cNvPr>
          <p:cNvPicPr>
            <a:picLocks noChangeAspect="1"/>
          </p:cNvPicPr>
          <p:nvPr/>
        </p:nvPicPr>
        <p:blipFill>
          <a:blip r:embed="rId2"/>
          <a:stretch>
            <a:fillRect/>
          </a:stretch>
        </p:blipFill>
        <p:spPr>
          <a:xfrm>
            <a:off x="951470" y="1050324"/>
            <a:ext cx="9959546" cy="58060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49D64-7E99-7D53-BCBC-FFAE3F0D0C8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43EC4C-BBF0-7E52-CD0C-8A0D602C4FB8}"/>
              </a:ext>
            </a:extLst>
          </p:cNvPr>
          <p:cNvPicPr>
            <a:picLocks noChangeAspect="1"/>
          </p:cNvPicPr>
          <p:nvPr/>
        </p:nvPicPr>
        <p:blipFill>
          <a:blip r:embed="rId2"/>
          <a:stretch>
            <a:fillRect/>
          </a:stretch>
        </p:blipFill>
        <p:spPr>
          <a:xfrm>
            <a:off x="0" y="0"/>
            <a:ext cx="12192000" cy="6856326"/>
          </a:xfrm>
          <a:prstGeom prst="rect">
            <a:avLst/>
          </a:prstGeom>
        </p:spPr>
      </p:pic>
    </p:spTree>
    <p:extLst>
      <p:ext uri="{BB962C8B-B14F-4D97-AF65-F5344CB8AC3E}">
        <p14:creationId xmlns:p14="http://schemas.microsoft.com/office/powerpoint/2010/main" val="2445743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176B-431B-82D0-7C89-61CCC7429F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4A6DBB-4F3B-1769-601D-C66034518C4D}"/>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3688235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pic>
        <p:nvPicPr>
          <p:cNvPr id="675" name="Google Shape;675;p71"/>
          <p:cNvPicPr preferRelativeResize="0"/>
          <p:nvPr/>
        </p:nvPicPr>
        <p:blipFill rotWithShape="1">
          <a:blip r:embed="rId3"/>
          <a:srcRect l="30107" r="5080"/>
          <a:stretch>
            <a:fillRect/>
          </a:stretch>
        </p:blipFill>
        <p:spPr>
          <a:xfrm>
            <a:off x="0" y="0"/>
            <a:ext cx="12192000" cy="6858000"/>
          </a:xfrm>
          <a:prstGeom prst="rect">
            <a:avLst/>
          </a:prstGeom>
          <a:noFill/>
          <a:ln>
            <a:noFill/>
          </a:ln>
          <a:effectLst>
            <a:outerShdw blurRad="50800" dist="50800" dir="5400000" algn="ctr" rotWithShape="0">
              <a:srgbClr val="A8D08C"/>
            </a:outerShdw>
          </a:effectLst>
        </p:spPr>
      </p:pic>
      <p:sp>
        <p:nvSpPr>
          <p:cNvPr id="676" name="Google Shape;676;p71"/>
          <p:cNvSpPr txBox="1"/>
          <p:nvPr/>
        </p:nvSpPr>
        <p:spPr>
          <a:xfrm>
            <a:off x="1362869" y="1552115"/>
            <a:ext cx="9466262" cy="279717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F0066"/>
              </a:buClr>
              <a:buSzPts val="4000"/>
              <a:buFont typeface="Century Gothic" panose="020B0502020202020204"/>
              <a:buNone/>
            </a:pPr>
            <a:r>
              <a:rPr lang="en-US" sz="5400" b="1" i="0" u="none" dirty="0">
                <a:solidFill>
                  <a:srgbClr val="FF0066"/>
                </a:solidFill>
                <a:latin typeface="Century Gothic" panose="020B0502020202020204"/>
                <a:ea typeface="Century Gothic" panose="020B0502020202020204"/>
                <a:cs typeface="Century Gothic" panose="020B0502020202020204"/>
                <a:sym typeface="Century Gothic" panose="020B0502020202020204"/>
              </a:rPr>
              <a:t>Thank you</a:t>
            </a:r>
          </a:p>
        </p:txBody>
      </p:sp>
      <p:sp>
        <p:nvSpPr>
          <p:cNvPr id="678" name="Google Shape;678;p71"/>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r>
              <a:rPr lang="en-US" sz="1200" b="0" i="0" u="none">
                <a:solidFill>
                  <a:srgbClr val="898989"/>
                </a:solidFill>
                <a:latin typeface="Calibri" panose="020F0502020204030204"/>
                <a:ea typeface="Calibri" panose="020F0502020204030204"/>
                <a:cs typeface="Calibri" panose="020F0502020204030204"/>
                <a:sym typeface="Calibri" panose="020F0502020204030204"/>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92*43"/>
  <p:tag name="TABLE_ENDDRAG_RECT" val="459*479*492*43"/>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784</Words>
  <Application>Microsoft Office PowerPoint</Application>
  <PresentationFormat>Widescreen</PresentationFormat>
  <Paragraphs>100</Paragraphs>
  <Slides>15</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Aptos</vt:lpstr>
      <vt:lpstr>Quattrocento Sans</vt:lpstr>
      <vt:lpstr>Times New Roman</vt:lpstr>
      <vt:lpstr>Wingdings</vt:lpstr>
      <vt:lpstr>Arial Rounded MT Bold</vt:lpstr>
      <vt:lpstr>Arial Black</vt:lpstr>
      <vt:lpstr>Arial</vt:lpstr>
      <vt:lpstr>Bookman Old Style</vt:lpstr>
      <vt:lpstr>Century Gothic</vt:lpstr>
      <vt:lpstr>Calibri</vt:lpstr>
      <vt:lpstr>Office Theme</vt:lpstr>
      <vt:lpstr>1_Office Theme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 V R</dc:creator>
  <cp:lastModifiedBy>Dell</cp:lastModifiedBy>
  <cp:revision>135</cp:revision>
  <dcterms:created xsi:type="dcterms:W3CDTF">2022-02-09T05:59:00Z</dcterms:created>
  <dcterms:modified xsi:type="dcterms:W3CDTF">2026-05-04T05:00:09Z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47FE6DD8937041B8900B0DE969FD4706_12</vt:lpwstr>
  </property>
  <property fmtid="{D5CDD505-2E9C-101B-9397-08002B2CF9AE}" pid="3" name="KSOProductBuildVer">
    <vt:lpwstr>1033-12.2.0.21546</vt:lpwstr>
  </property>
</Properties>
</file>